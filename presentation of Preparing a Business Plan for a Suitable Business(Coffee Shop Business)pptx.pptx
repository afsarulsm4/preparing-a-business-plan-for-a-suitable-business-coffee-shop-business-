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8690DE-4226-44A0-BBBE-7B7432614129}" v="60" dt="2018-11-09T13:11:27.3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330EA680-D336-4FF7-8B7A-9848BB0A1C3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053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6244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dirty="0"/>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3051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48786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668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584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2210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2682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dirty="0"/>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29928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1042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392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7451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15492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591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674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8842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4308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6CE7D5-CF57-46EF-B807-FDD0502418D4}" type="datetimeFigureOut">
              <a:rPr lang="en-US" smtClean="0"/>
              <a:t>11/9/2018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5059187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C06459-1CAB-4BB3-AD90-7A9E917782F1}"/>
              </a:ext>
            </a:extLst>
          </p:cNvPr>
          <p:cNvSpPr txBox="1"/>
          <p:nvPr/>
        </p:nvSpPr>
        <p:spPr>
          <a:xfrm>
            <a:off x="2352137" y="1755475"/>
            <a:ext cx="7502106"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dirty="0">
                <a:solidFill>
                  <a:schemeClr val="accent1"/>
                </a:solidFill>
                <a:latin typeface="Comic Sans MS"/>
              </a:rPr>
              <a:t>Welcome</a:t>
            </a:r>
            <a:r>
              <a:rPr lang="en-US" sz="8000" dirty="0">
                <a:solidFill>
                  <a:schemeClr val="accent1"/>
                </a:solidFill>
                <a:latin typeface="Comic Sans MS"/>
                <a:cs typeface="Calibri"/>
              </a:rPr>
              <a:t> to all</a:t>
            </a:r>
            <a:endParaRPr lang="en-US" sz="8000">
              <a:solidFill>
                <a:schemeClr val="accent1"/>
              </a:solidFill>
              <a:latin typeface="Comic Sans MS"/>
              <a:cs typeface="Calibri"/>
            </a:endParaRPr>
          </a:p>
        </p:txBody>
      </p:sp>
      <p:sp>
        <p:nvSpPr>
          <p:cNvPr id="5" name="TextBox 4">
            <a:extLst>
              <a:ext uri="{FF2B5EF4-FFF2-40B4-BE49-F238E27FC236}">
                <a16:creationId xmlns:a16="http://schemas.microsoft.com/office/drawing/2014/main" id="{8F6C70E5-5983-4B7C-8BF7-40FE18EB4D0C}"/>
              </a:ext>
            </a:extLst>
          </p:cNvPr>
          <p:cNvSpPr txBox="1"/>
          <p:nvPr/>
        </p:nvSpPr>
        <p:spPr>
          <a:xfrm>
            <a:off x="2237117" y="3523890"/>
            <a:ext cx="7775275"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dirty="0"/>
              <a:t>To our group Presentation</a:t>
            </a:r>
            <a:endParaRPr lang="en-US" sz="4400" dirty="0">
              <a:cs typeface="Calibri"/>
            </a:endParaRPr>
          </a:p>
          <a:p>
            <a:pPr algn="ctr"/>
            <a:r>
              <a:rPr lang="en-US" sz="4400" dirty="0">
                <a:cs typeface="Calibri"/>
              </a:rPr>
              <a:t>We are presenting A Business Plan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94FB-ECD9-4A8B-96FC-70396AF46CF3}"/>
              </a:ext>
            </a:extLst>
          </p:cNvPr>
          <p:cNvSpPr>
            <a:spLocks noGrp="1"/>
          </p:cNvSpPr>
          <p:nvPr>
            <p:ph type="title"/>
          </p:nvPr>
        </p:nvSpPr>
        <p:spPr>
          <a:xfrm>
            <a:off x="838200" y="1328408"/>
            <a:ext cx="10515600" cy="1325563"/>
          </a:xfrm>
        </p:spPr>
        <p:txBody>
          <a:bodyPr>
            <a:normAutofit/>
          </a:bodyPr>
          <a:lstStyle/>
          <a:p>
            <a:pPr algn="ctr"/>
            <a:r>
              <a:rPr lang="en-US" sz="7200" b="1" dirty="0">
                <a:cs typeface="Calibri Light"/>
              </a:rPr>
              <a:t>Business Plan</a:t>
            </a:r>
          </a:p>
        </p:txBody>
      </p:sp>
      <p:sp>
        <p:nvSpPr>
          <p:cNvPr id="4" name="TextBox 3">
            <a:extLst>
              <a:ext uri="{FF2B5EF4-FFF2-40B4-BE49-F238E27FC236}">
                <a16:creationId xmlns:a16="http://schemas.microsoft.com/office/drawing/2014/main" id="{8594FCD4-CA3A-4E14-8378-8B28D5943091}"/>
              </a:ext>
            </a:extLst>
          </p:cNvPr>
          <p:cNvSpPr txBox="1"/>
          <p:nvPr/>
        </p:nvSpPr>
        <p:spPr>
          <a:xfrm>
            <a:off x="4048665" y="2416834"/>
            <a:ext cx="4180935" cy="83099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t>Coffee</a:t>
            </a:r>
            <a:r>
              <a:rPr lang="en-US" sz="4800" dirty="0">
                <a:cs typeface="Calibri"/>
              </a:rPr>
              <a:t> Shop</a:t>
            </a:r>
            <a:endParaRPr lang="en-US" dirty="0"/>
          </a:p>
        </p:txBody>
      </p:sp>
    </p:spTree>
    <p:extLst>
      <p:ext uri="{BB962C8B-B14F-4D97-AF65-F5344CB8AC3E}">
        <p14:creationId xmlns:p14="http://schemas.microsoft.com/office/powerpoint/2010/main" val="57778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436520-A8D1-4C1D-B543-847EE2C4680E}"/>
              </a:ext>
            </a:extLst>
          </p:cNvPr>
          <p:cNvSpPr txBox="1"/>
          <p:nvPr/>
        </p:nvSpPr>
        <p:spPr>
          <a:xfrm>
            <a:off x="1733910" y="1180381"/>
            <a:ext cx="8796067" cy="120032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7200" dirty="0">
                <a:latin typeface="Comic Sans MS"/>
              </a:rPr>
              <a:t>MATS</a:t>
            </a:r>
            <a:r>
              <a:rPr lang="en-US" sz="7200" dirty="0">
                <a:latin typeface="Comic Sans MS"/>
                <a:cs typeface="Calibri"/>
              </a:rPr>
              <a:t> Coffee Shop</a:t>
            </a:r>
          </a:p>
        </p:txBody>
      </p:sp>
      <p:sp>
        <p:nvSpPr>
          <p:cNvPr id="5" name="TextBox 4">
            <a:extLst>
              <a:ext uri="{FF2B5EF4-FFF2-40B4-BE49-F238E27FC236}">
                <a16:creationId xmlns:a16="http://schemas.microsoft.com/office/drawing/2014/main" id="{E6AC7FC3-AC00-46F3-8B3E-5EF791749047}"/>
              </a:ext>
            </a:extLst>
          </p:cNvPr>
          <p:cNvSpPr txBox="1"/>
          <p:nvPr/>
        </p:nvSpPr>
        <p:spPr>
          <a:xfrm>
            <a:off x="3171646" y="2416833"/>
            <a:ext cx="6193765" cy="58477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Comic Sans MS"/>
              </a:rPr>
              <a:t>Location</a:t>
            </a:r>
            <a:r>
              <a:rPr lang="en-US" sz="3200" dirty="0">
                <a:latin typeface="Comic Sans MS"/>
                <a:cs typeface="Calibri"/>
              </a:rPr>
              <a:t>: </a:t>
            </a:r>
            <a:r>
              <a:rPr lang="en-US" sz="3200" dirty="0" err="1">
                <a:latin typeface="Comic Sans MS"/>
                <a:cs typeface="Calibri"/>
              </a:rPr>
              <a:t>Amberkhana</a:t>
            </a:r>
            <a:r>
              <a:rPr lang="en-US" sz="3200" dirty="0">
                <a:latin typeface="Comic Sans MS"/>
                <a:cs typeface="Calibri"/>
              </a:rPr>
              <a:t>, Sylhet</a:t>
            </a:r>
          </a:p>
        </p:txBody>
      </p:sp>
    </p:spTree>
    <p:extLst>
      <p:ext uri="{BB962C8B-B14F-4D97-AF65-F5344CB8AC3E}">
        <p14:creationId xmlns:p14="http://schemas.microsoft.com/office/powerpoint/2010/main" val="135301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BBBF9C-0110-4350-A72D-E4AFA041B209}"/>
              </a:ext>
            </a:extLst>
          </p:cNvPr>
          <p:cNvSpPr txBox="1"/>
          <p:nvPr/>
        </p:nvSpPr>
        <p:spPr>
          <a:xfrm>
            <a:off x="3186022" y="777815"/>
            <a:ext cx="6035615" cy="70788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Comic Sans MS"/>
              </a:rPr>
              <a:t>About of</a:t>
            </a:r>
            <a:r>
              <a:rPr lang="en-US" sz="4000" dirty="0">
                <a:latin typeface="Comic Sans MS"/>
                <a:cs typeface="Calibri"/>
              </a:rPr>
              <a:t> our Business</a:t>
            </a:r>
          </a:p>
        </p:txBody>
      </p:sp>
      <p:sp>
        <p:nvSpPr>
          <p:cNvPr id="5" name="TextBox 4">
            <a:extLst>
              <a:ext uri="{FF2B5EF4-FFF2-40B4-BE49-F238E27FC236}">
                <a16:creationId xmlns:a16="http://schemas.microsoft.com/office/drawing/2014/main" id="{D413A74E-AAFD-4174-B74D-F6DFD11C1602}"/>
              </a:ext>
            </a:extLst>
          </p:cNvPr>
          <p:cNvSpPr txBox="1"/>
          <p:nvPr/>
        </p:nvSpPr>
        <p:spPr>
          <a:xfrm>
            <a:off x="727496" y="1755475"/>
            <a:ext cx="107945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latin typeface="Comic Sans MS"/>
              </a:rPr>
              <a:t>A</a:t>
            </a:r>
            <a:r>
              <a:rPr lang="en-US" sz="2800" dirty="0">
                <a:latin typeface="Comic Sans MS"/>
                <a:cs typeface="Calibri"/>
              </a:rPr>
              <a:t> coffee shop is a kind of restaurant that sells coffee &amp; tea.</a:t>
            </a:r>
          </a:p>
        </p:txBody>
      </p:sp>
      <p:sp>
        <p:nvSpPr>
          <p:cNvPr id="6" name="TextBox 5">
            <a:extLst>
              <a:ext uri="{FF2B5EF4-FFF2-40B4-BE49-F238E27FC236}">
                <a16:creationId xmlns:a16="http://schemas.microsoft.com/office/drawing/2014/main" id="{6701C8D3-AF39-4417-A484-607015706EB3}"/>
              </a:ext>
            </a:extLst>
          </p:cNvPr>
          <p:cNvSpPr txBox="1"/>
          <p:nvPr/>
        </p:nvSpPr>
        <p:spPr>
          <a:xfrm>
            <a:off x="928778" y="2445588"/>
            <a:ext cx="10147538" cy="360098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dirty="0">
                <a:latin typeface="Comic Sans MS"/>
                <a:cs typeface="Calibri"/>
              </a:rPr>
              <a:t>→ Our Vision:</a:t>
            </a:r>
            <a:endParaRPr lang="en-US" dirty="0"/>
          </a:p>
          <a:p>
            <a:pPr marL="285750" indent="-285750" algn="just">
              <a:buFont typeface="Arial"/>
              <a:buChar char="•"/>
            </a:pPr>
            <a:r>
              <a:rPr lang="en-US" dirty="0">
                <a:cs typeface="Calibri"/>
              </a:rPr>
              <a:t>  </a:t>
            </a:r>
            <a:r>
              <a:rPr lang="en-US" dirty="0">
                <a:latin typeface="Comic Sans MS"/>
                <a:cs typeface="Calibri"/>
              </a:rPr>
              <a:t>To be a leading integrated coffee shop service group in country by delivering consistent quality product and excellent customer focused service.</a:t>
            </a:r>
          </a:p>
          <a:p>
            <a:pPr marL="285750" indent="-285750" algn="just">
              <a:buFont typeface="Arial"/>
              <a:buChar char="•"/>
            </a:pPr>
            <a:r>
              <a:rPr lang="en-US" dirty="0">
                <a:latin typeface="Comic Sans MS"/>
                <a:cs typeface="Calibri"/>
              </a:rPr>
              <a:t> To sell coffee in a fast, friendly environment that appeals to pride conscious health minded consumers.  </a:t>
            </a:r>
          </a:p>
          <a:p>
            <a:endParaRPr lang="en-US" sz="2800" b="1" dirty="0">
              <a:latin typeface="Comic Sans MS"/>
              <a:cs typeface="Calibri"/>
            </a:endParaRPr>
          </a:p>
          <a:p>
            <a:r>
              <a:rPr lang="en-US" sz="2800" b="1" dirty="0">
                <a:latin typeface="Comic Sans MS"/>
                <a:cs typeface="Calibri"/>
              </a:rPr>
              <a:t>→ Our Mission: </a:t>
            </a:r>
            <a:endParaRPr lang="en-US" dirty="0"/>
          </a:p>
          <a:p>
            <a:pPr marL="457200" indent="-457200">
              <a:buFont typeface="Arial"/>
              <a:buChar char="•"/>
            </a:pPr>
            <a:r>
              <a:rPr lang="en-US" dirty="0">
                <a:latin typeface="Comic Sans MS"/>
                <a:cs typeface="Calibri"/>
              </a:rPr>
              <a:t>Attaining best in class productivity and efficiency. </a:t>
            </a:r>
          </a:p>
          <a:p>
            <a:pPr marL="457200" indent="-457200">
              <a:buFont typeface="Arial"/>
              <a:buChar char="•"/>
            </a:pPr>
            <a:r>
              <a:rPr lang="en-US" dirty="0">
                <a:latin typeface="Comic Sans MS"/>
                <a:cs typeface="Calibri"/>
              </a:rPr>
              <a:t>Building our brand also. </a:t>
            </a:r>
          </a:p>
          <a:p>
            <a:pPr marL="457200" indent="-457200">
              <a:buFont typeface="Arial"/>
              <a:buChar char="•"/>
            </a:pPr>
            <a:r>
              <a:rPr lang="en-US" dirty="0">
                <a:latin typeface="Comic Sans MS"/>
                <a:cs typeface="Calibri"/>
              </a:rPr>
              <a:t>Reinventing the business continuously through technology and innovation.</a:t>
            </a:r>
          </a:p>
          <a:p>
            <a:pPr marL="457200" indent="-457200">
              <a:buFont typeface="Arial"/>
              <a:buChar char="•"/>
            </a:pPr>
            <a:r>
              <a:rPr lang="en-US" dirty="0">
                <a:latin typeface="Comic Sans MS"/>
                <a:cs typeface="Calibri"/>
              </a:rPr>
              <a:t>Reinforcing “The new way coffee shop” by living our values every day. </a:t>
            </a:r>
          </a:p>
        </p:txBody>
      </p:sp>
    </p:spTree>
    <p:extLst>
      <p:ext uri="{BB962C8B-B14F-4D97-AF65-F5344CB8AC3E}">
        <p14:creationId xmlns:p14="http://schemas.microsoft.com/office/powerpoint/2010/main" val="154302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5EE692-C4A7-497D-B0A8-6B782580CC57}"/>
              </a:ext>
            </a:extLst>
          </p:cNvPr>
          <p:cNvSpPr txBox="1"/>
          <p:nvPr/>
        </p:nvSpPr>
        <p:spPr>
          <a:xfrm>
            <a:off x="2035834" y="2704381"/>
            <a:ext cx="8163464" cy="156966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dirty="0">
                <a:latin typeface="Comic Sans MS"/>
              </a:rPr>
              <a:t>Products</a:t>
            </a:r>
            <a:endParaRPr lang="en-US" sz="9600">
              <a:latin typeface="Comic Sans MS"/>
              <a:cs typeface="Calibri"/>
            </a:endParaRPr>
          </a:p>
        </p:txBody>
      </p:sp>
    </p:spTree>
    <p:extLst>
      <p:ext uri="{BB962C8B-B14F-4D97-AF65-F5344CB8AC3E}">
        <p14:creationId xmlns:p14="http://schemas.microsoft.com/office/powerpoint/2010/main" val="1827621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00330-91E1-433F-8C1D-80B27028D71D}"/>
              </a:ext>
            </a:extLst>
          </p:cNvPr>
          <p:cNvSpPr txBox="1"/>
          <p:nvPr/>
        </p:nvSpPr>
        <p:spPr>
          <a:xfrm>
            <a:off x="669985" y="1137249"/>
            <a:ext cx="3720858" cy="28315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 </a:t>
            </a:r>
            <a:r>
              <a:rPr lang="en-US" sz="2800" b="1" dirty="0">
                <a:latin typeface="Comic Sans MS"/>
              </a:rPr>
              <a:t>Espresso Drinks: </a:t>
            </a:r>
            <a:endParaRPr lang="en-US" sz="2800" dirty="0">
              <a:latin typeface="Comic Sans MS"/>
            </a:endParaRPr>
          </a:p>
          <a:p>
            <a:endParaRPr lang="en-US" dirty="0">
              <a:latin typeface="Comic Sans MS"/>
              <a:cs typeface="Calibri"/>
            </a:endParaRPr>
          </a:p>
          <a:p>
            <a:r>
              <a:rPr lang="en-US" dirty="0">
                <a:latin typeface="Comic Sans MS"/>
              </a:rPr>
              <a:t>         </a:t>
            </a:r>
            <a:r>
              <a:rPr lang="en-US" sz="2200" dirty="0">
                <a:latin typeface="Comic Sans MS"/>
              </a:rPr>
              <a:t>• Americano  </a:t>
            </a:r>
            <a:endParaRPr lang="en-US" sz="2200" dirty="0">
              <a:latin typeface="Comic Sans MS"/>
              <a:cs typeface="Calibri"/>
            </a:endParaRPr>
          </a:p>
          <a:p>
            <a:r>
              <a:rPr lang="en-US" sz="2200" dirty="0">
                <a:latin typeface="Comic Sans MS"/>
              </a:rPr>
              <a:t>       • Breve </a:t>
            </a:r>
            <a:endParaRPr lang="en-US" sz="2200">
              <a:latin typeface="Comic Sans MS"/>
              <a:cs typeface="Calibri"/>
            </a:endParaRPr>
          </a:p>
          <a:p>
            <a:r>
              <a:rPr lang="en-US" sz="2200" dirty="0">
                <a:latin typeface="Comic Sans MS"/>
              </a:rPr>
              <a:t>       • Cappuccino </a:t>
            </a:r>
            <a:endParaRPr lang="en-US" sz="2200" dirty="0">
              <a:latin typeface="Comic Sans MS"/>
              <a:cs typeface="Calibri"/>
            </a:endParaRPr>
          </a:p>
          <a:p>
            <a:r>
              <a:rPr lang="en-US" sz="2200" dirty="0">
                <a:latin typeface="Comic Sans MS"/>
              </a:rPr>
              <a:t>       • Latte  </a:t>
            </a:r>
            <a:endParaRPr lang="en-US" sz="2200" dirty="0">
              <a:latin typeface="Comic Sans MS"/>
              <a:cs typeface="Calibri"/>
            </a:endParaRPr>
          </a:p>
          <a:p>
            <a:r>
              <a:rPr lang="en-US" sz="2200" dirty="0">
                <a:latin typeface="Comic Sans MS"/>
              </a:rPr>
              <a:t>       • Mocha </a:t>
            </a:r>
            <a:endParaRPr lang="en-US" sz="2200" dirty="0">
              <a:latin typeface="Comic Sans MS"/>
              <a:cs typeface="Calibri"/>
            </a:endParaRPr>
          </a:p>
          <a:p>
            <a:r>
              <a:rPr lang="en-US" sz="2200" dirty="0">
                <a:latin typeface="Comic Sans MS"/>
              </a:rPr>
              <a:t>       • Macchiato</a:t>
            </a:r>
            <a:endParaRPr lang="en-US" sz="2200" dirty="0">
              <a:latin typeface="Comic Sans MS"/>
              <a:cs typeface="Calibri"/>
            </a:endParaRPr>
          </a:p>
        </p:txBody>
      </p:sp>
      <p:sp>
        <p:nvSpPr>
          <p:cNvPr id="3" name="TextBox 2">
            <a:extLst>
              <a:ext uri="{FF2B5EF4-FFF2-40B4-BE49-F238E27FC236}">
                <a16:creationId xmlns:a16="http://schemas.microsoft.com/office/drawing/2014/main" id="{5CC89C38-E940-4385-ACFF-D7B33138DAC3}"/>
              </a:ext>
            </a:extLst>
          </p:cNvPr>
          <p:cNvSpPr txBox="1"/>
          <p:nvPr/>
        </p:nvSpPr>
        <p:spPr>
          <a:xfrm>
            <a:off x="3861759" y="1741098"/>
            <a:ext cx="3893388" cy="350865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omic Sans MS"/>
              </a:rPr>
              <a:t> ❖ Coffees:</a:t>
            </a:r>
            <a:r>
              <a:rPr lang="en-US" dirty="0"/>
              <a:t> </a:t>
            </a:r>
            <a:endParaRPr lang="en-US"/>
          </a:p>
          <a:p>
            <a:r>
              <a:rPr lang="en-US" dirty="0"/>
              <a:t>            </a:t>
            </a:r>
            <a:endParaRPr lang="en-US" sz="2200">
              <a:latin typeface="Comic Sans MS"/>
              <a:cs typeface="Calibri"/>
            </a:endParaRPr>
          </a:p>
          <a:p>
            <a:r>
              <a:rPr lang="en-US" sz="2200" dirty="0">
                <a:latin typeface="Comic Sans MS"/>
              </a:rPr>
              <a:t>          • Regular Coffee </a:t>
            </a:r>
            <a:endParaRPr lang="en-US" sz="2200">
              <a:latin typeface="Comic Sans MS"/>
              <a:cs typeface="Calibri"/>
            </a:endParaRPr>
          </a:p>
          <a:p>
            <a:r>
              <a:rPr lang="en-US" sz="2200" dirty="0">
                <a:latin typeface="Comic Sans MS"/>
              </a:rPr>
              <a:t>          • Hot Coffee  </a:t>
            </a:r>
            <a:endParaRPr lang="en-US" sz="2200">
              <a:latin typeface="Comic Sans MS"/>
              <a:cs typeface="Calibri"/>
            </a:endParaRPr>
          </a:p>
          <a:p>
            <a:r>
              <a:rPr lang="en-US" sz="2200" dirty="0">
                <a:latin typeface="Comic Sans MS"/>
              </a:rPr>
              <a:t>          • Cold Coffee  </a:t>
            </a:r>
            <a:endParaRPr lang="en-US" sz="2200">
              <a:latin typeface="Comic Sans MS"/>
              <a:cs typeface="Calibri"/>
            </a:endParaRPr>
          </a:p>
          <a:p>
            <a:r>
              <a:rPr lang="en-US" sz="2200" dirty="0">
                <a:latin typeface="Comic Sans MS"/>
              </a:rPr>
              <a:t>          • Oreo Blend Coffee </a:t>
            </a:r>
            <a:endParaRPr lang="en-US" sz="2200" dirty="0">
              <a:latin typeface="Comic Sans MS"/>
              <a:cs typeface="Calibri"/>
            </a:endParaRPr>
          </a:p>
          <a:p>
            <a:r>
              <a:rPr lang="en-US" sz="2200" dirty="0">
                <a:latin typeface="Comic Sans MS"/>
              </a:rPr>
              <a:t>          • Chocolate Coffee</a:t>
            </a:r>
            <a:endParaRPr lang="en-US" sz="2200" dirty="0">
              <a:latin typeface="Comic Sans MS"/>
              <a:cs typeface="Calibri"/>
            </a:endParaRPr>
          </a:p>
          <a:p>
            <a:r>
              <a:rPr lang="en-US" sz="2200" dirty="0">
                <a:latin typeface="Comic Sans MS"/>
              </a:rPr>
              <a:t>          • Black Coffee </a:t>
            </a:r>
            <a:r>
              <a:rPr lang="en-US" sz="2200" dirty="0">
                <a:latin typeface="Comic Sans MS"/>
                <a:cs typeface="Calibri"/>
              </a:rPr>
              <a:t> </a:t>
            </a:r>
          </a:p>
          <a:p>
            <a:r>
              <a:rPr lang="en-US" sz="2200" dirty="0">
                <a:latin typeface="Comic Sans MS"/>
              </a:rPr>
              <a:t>          • Kit-Kat Coffee  </a:t>
            </a:r>
            <a:endParaRPr lang="en-US" sz="2200">
              <a:latin typeface="Comic Sans MS"/>
              <a:cs typeface="Calibri"/>
            </a:endParaRPr>
          </a:p>
          <a:p>
            <a:r>
              <a:rPr lang="en-US" sz="2200" dirty="0">
                <a:latin typeface="Comic Sans MS"/>
              </a:rPr>
              <a:t>          • World Tour Blend </a:t>
            </a:r>
            <a:endParaRPr lang="en-US" sz="2200">
              <a:latin typeface="Comic Sans MS"/>
              <a:cs typeface="Calibri"/>
            </a:endParaRPr>
          </a:p>
        </p:txBody>
      </p:sp>
      <p:sp>
        <p:nvSpPr>
          <p:cNvPr id="4" name="TextBox 3">
            <a:extLst>
              <a:ext uri="{FF2B5EF4-FFF2-40B4-BE49-F238E27FC236}">
                <a16:creationId xmlns:a16="http://schemas.microsoft.com/office/drawing/2014/main" id="{47B41B66-CB13-4D1A-A5C4-F5E1283DE06C}"/>
              </a:ext>
            </a:extLst>
          </p:cNvPr>
          <p:cNvSpPr txBox="1"/>
          <p:nvPr/>
        </p:nvSpPr>
        <p:spPr>
          <a:xfrm>
            <a:off x="7384213" y="2301815"/>
            <a:ext cx="4367840" cy="28315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omic Sans MS"/>
              </a:rPr>
              <a:t>❖ Other Drinks: </a:t>
            </a:r>
            <a:endParaRPr lang="en-US" sz="2800" b="1" dirty="0">
              <a:latin typeface="Comic Sans MS"/>
              <a:cs typeface="Calibri"/>
            </a:endParaRPr>
          </a:p>
          <a:p>
            <a:r>
              <a:rPr lang="en-US" dirty="0"/>
              <a:t>     </a:t>
            </a:r>
            <a:endParaRPr lang="en-US" dirty="0">
              <a:cs typeface="Calibri"/>
            </a:endParaRPr>
          </a:p>
          <a:p>
            <a:r>
              <a:rPr lang="en-US" dirty="0"/>
              <a:t>       </a:t>
            </a:r>
            <a:r>
              <a:rPr lang="en-US" dirty="0">
                <a:latin typeface="Calibri"/>
                <a:cs typeface="Calibri"/>
              </a:rPr>
              <a:t>    </a:t>
            </a:r>
            <a:r>
              <a:rPr lang="en-US" sz="2200" dirty="0">
                <a:latin typeface="Comic Sans MS"/>
              </a:rPr>
              <a:t>•Hot Chocolate  </a:t>
            </a:r>
          </a:p>
          <a:p>
            <a:r>
              <a:rPr lang="en-US" sz="2200" dirty="0">
                <a:latin typeface="Comic Sans MS"/>
              </a:rPr>
              <a:t> </a:t>
            </a:r>
            <a:r>
              <a:rPr lang="en-US" sz="2200" dirty="0">
                <a:latin typeface="Comic Sans MS"/>
                <a:cs typeface="Calibri"/>
              </a:rPr>
              <a:t> </a:t>
            </a:r>
            <a:r>
              <a:rPr lang="en-US" sz="2200" dirty="0">
                <a:latin typeface="Comic Sans MS"/>
              </a:rPr>
              <a:t>     •Hot Tea </a:t>
            </a:r>
            <a:endParaRPr lang="en-US" sz="2200" dirty="0">
              <a:latin typeface="Comic Sans MS"/>
              <a:cs typeface="Calibri"/>
            </a:endParaRPr>
          </a:p>
          <a:p>
            <a:r>
              <a:rPr lang="en-US" sz="2200" dirty="0">
                <a:latin typeface="Comic Sans MS"/>
              </a:rPr>
              <a:t>       •Kid’s Hot Cocoa  </a:t>
            </a:r>
            <a:endParaRPr lang="en-US" sz="2200" dirty="0">
              <a:latin typeface="Comic Sans MS"/>
              <a:cs typeface="Calibri"/>
            </a:endParaRPr>
          </a:p>
          <a:p>
            <a:r>
              <a:rPr lang="en-US" sz="2200" dirty="0">
                <a:latin typeface="Comic Sans MS"/>
              </a:rPr>
              <a:t>       •Juice </a:t>
            </a:r>
            <a:endParaRPr lang="en-US" sz="2200" dirty="0">
              <a:latin typeface="Comic Sans MS"/>
              <a:cs typeface="Calibri"/>
            </a:endParaRPr>
          </a:p>
          <a:p>
            <a:r>
              <a:rPr lang="en-US" sz="2200" dirty="0">
                <a:latin typeface="Comic Sans MS"/>
              </a:rPr>
              <a:t>       •White and Chocolate Milk </a:t>
            </a:r>
            <a:endParaRPr lang="en-US" sz="2200" dirty="0">
              <a:latin typeface="Comic Sans MS"/>
              <a:cs typeface="Calibri"/>
            </a:endParaRPr>
          </a:p>
          <a:p>
            <a:r>
              <a:rPr lang="en-US" sz="2200" dirty="0">
                <a:latin typeface="Comic Sans MS"/>
              </a:rPr>
              <a:t>       •Drinks </a:t>
            </a:r>
            <a:endParaRPr lang="en-US" sz="2200" dirty="0">
              <a:latin typeface="Comic Sans MS"/>
              <a:cs typeface="Calibri"/>
            </a:endParaRPr>
          </a:p>
        </p:txBody>
      </p:sp>
    </p:spTree>
    <p:extLst>
      <p:ext uri="{BB962C8B-B14F-4D97-AF65-F5344CB8AC3E}">
        <p14:creationId xmlns:p14="http://schemas.microsoft.com/office/powerpoint/2010/main" val="255153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FB42BD-52B0-46AB-BE04-B7AFEA21CFD6}"/>
              </a:ext>
            </a:extLst>
          </p:cNvPr>
          <p:cNvSpPr txBox="1"/>
          <p:nvPr/>
        </p:nvSpPr>
        <p:spPr>
          <a:xfrm>
            <a:off x="1978325" y="2574985"/>
            <a:ext cx="8264104"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b="1" dirty="0">
                <a:latin typeface="Comic Sans MS"/>
              </a:rPr>
              <a:t>Market Analysis</a:t>
            </a:r>
          </a:p>
        </p:txBody>
      </p:sp>
    </p:spTree>
    <p:extLst>
      <p:ext uri="{BB962C8B-B14F-4D97-AF65-F5344CB8AC3E}">
        <p14:creationId xmlns:p14="http://schemas.microsoft.com/office/powerpoint/2010/main" val="3625880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AAE52-AE28-4EB8-A61C-A1CD3432F2CB}"/>
              </a:ext>
            </a:extLst>
          </p:cNvPr>
          <p:cNvSpPr txBox="1"/>
          <p:nvPr/>
        </p:nvSpPr>
        <p:spPr>
          <a:xfrm>
            <a:off x="885646" y="921588"/>
            <a:ext cx="10449464" cy="517064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dirty="0">
                <a:latin typeface="Comic Sans MS"/>
              </a:rPr>
              <a:t>• Target Market: </a:t>
            </a:r>
            <a:endParaRPr lang="en-US">
              <a:latin typeface="Calibri"/>
              <a:cs typeface="Calibri"/>
            </a:endParaRPr>
          </a:p>
          <a:p>
            <a:pPr algn="just"/>
            <a:endParaRPr lang="en-US" dirty="0">
              <a:cs typeface="Calibri"/>
            </a:endParaRPr>
          </a:p>
          <a:p>
            <a:pPr algn="just"/>
            <a:r>
              <a:rPr lang="en-US" dirty="0"/>
              <a:t>            </a:t>
            </a:r>
            <a:r>
              <a:rPr lang="en-US" sz="2200" dirty="0">
                <a:latin typeface="Comic Sans MS"/>
              </a:rPr>
              <a:t>My target market will be to anyone who enjoys coffee, but I will mainly target people age 18 and older, both male and female, and who are of the working class. The total population of Connersville is 15,411, and the number of males and females are about the same. There are 11,813 residents over the age of 18. </a:t>
            </a:r>
            <a:endParaRPr lang="en-US" dirty="0">
              <a:latin typeface="Calibri"/>
              <a:cs typeface="Calibri"/>
            </a:endParaRPr>
          </a:p>
          <a:p>
            <a:pPr algn="just"/>
            <a:endParaRPr lang="en-US" dirty="0">
              <a:cs typeface="Calibri"/>
            </a:endParaRPr>
          </a:p>
          <a:p>
            <a:pPr algn="just"/>
            <a:r>
              <a:rPr lang="en-US" sz="2800" b="1" dirty="0">
                <a:latin typeface="Comic Sans MS"/>
              </a:rPr>
              <a:t>• Competition: </a:t>
            </a:r>
          </a:p>
          <a:p>
            <a:pPr algn="just"/>
            <a:endParaRPr lang="en-US" dirty="0">
              <a:cs typeface="Calibri"/>
            </a:endParaRPr>
          </a:p>
          <a:p>
            <a:pPr algn="just"/>
            <a:r>
              <a:rPr lang="en-US" dirty="0"/>
              <a:t>        </a:t>
            </a:r>
            <a:r>
              <a:rPr lang="en-US" dirty="0">
                <a:latin typeface="Calibri"/>
                <a:cs typeface="Calibri"/>
              </a:rPr>
              <a:t>  </a:t>
            </a:r>
            <a:r>
              <a:rPr lang="en-US" sz="2200" dirty="0">
                <a:latin typeface="Comic Sans MS"/>
                <a:cs typeface="Calibri"/>
              </a:rPr>
              <a:t> My major competitors would be </a:t>
            </a:r>
            <a:r>
              <a:rPr lang="en-US" sz="2200" dirty="0" err="1">
                <a:latin typeface="Comic Sans MS"/>
                <a:cs typeface="Calibri"/>
              </a:rPr>
              <a:t>Prantho`s</a:t>
            </a:r>
            <a:r>
              <a:rPr lang="en-US" sz="2200" dirty="0">
                <a:latin typeface="Comic Sans MS"/>
                <a:cs typeface="Calibri"/>
              </a:rPr>
              <a:t> Coffee which is located on Central Avenue in </a:t>
            </a:r>
            <a:r>
              <a:rPr lang="en-US" sz="2200" dirty="0" err="1">
                <a:latin typeface="Comic Sans MS"/>
                <a:cs typeface="Calibri"/>
              </a:rPr>
              <a:t>Amberkhana</a:t>
            </a:r>
            <a:r>
              <a:rPr lang="en-US" sz="2200" dirty="0">
                <a:latin typeface="Comic Sans MS"/>
                <a:cs typeface="Calibri"/>
              </a:rPr>
              <a:t>. One of the strengths of </a:t>
            </a:r>
            <a:r>
              <a:rPr lang="en-US" sz="2200" dirty="0" err="1">
                <a:latin typeface="Comic Sans MS"/>
                <a:cs typeface="Calibri"/>
              </a:rPr>
              <a:t>Prantho`s</a:t>
            </a:r>
            <a:r>
              <a:rPr lang="en-US" sz="2200" dirty="0">
                <a:latin typeface="Comic Sans MS"/>
                <a:cs typeface="Calibri"/>
              </a:rPr>
              <a:t> Coffee would be that they serve coffee and cakes. They have also been in Connersville since 2016 and they are well known. People may also be brand loyal to their coffee. </a:t>
            </a:r>
            <a:endParaRPr lang="en-US" sz="2200">
              <a:latin typeface="Comic Sans MS"/>
              <a:cs typeface="Calibri"/>
            </a:endParaRPr>
          </a:p>
        </p:txBody>
      </p:sp>
    </p:spTree>
    <p:extLst>
      <p:ext uri="{BB962C8B-B14F-4D97-AF65-F5344CB8AC3E}">
        <p14:creationId xmlns:p14="http://schemas.microsoft.com/office/powerpoint/2010/main" val="2531866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B24B6C-CB26-4370-A8D2-935019859B52}"/>
              </a:ext>
            </a:extLst>
          </p:cNvPr>
          <p:cNvSpPr txBox="1"/>
          <p:nvPr/>
        </p:nvSpPr>
        <p:spPr>
          <a:xfrm>
            <a:off x="856891" y="2560607"/>
            <a:ext cx="10521349"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dirty="0">
                <a:latin typeface="Comic Sans MS"/>
              </a:rPr>
              <a:t>Marketing Plan</a:t>
            </a:r>
            <a:endParaRPr lang="en-US" sz="8000" dirty="0">
              <a:latin typeface="Comic Sans MS"/>
              <a:cs typeface="Calibri"/>
            </a:endParaRPr>
          </a:p>
        </p:txBody>
      </p:sp>
    </p:spTree>
    <p:extLst>
      <p:ext uri="{BB962C8B-B14F-4D97-AF65-F5344CB8AC3E}">
        <p14:creationId xmlns:p14="http://schemas.microsoft.com/office/powerpoint/2010/main" val="3535976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741D6C-7E8F-43CC-83A4-65E11B1D370C}"/>
              </a:ext>
            </a:extLst>
          </p:cNvPr>
          <p:cNvSpPr txBox="1"/>
          <p:nvPr/>
        </p:nvSpPr>
        <p:spPr>
          <a:xfrm>
            <a:off x="1072552" y="1712344"/>
            <a:ext cx="9989387" cy="28315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Comic Sans MS"/>
              </a:rPr>
              <a:t>1. </a:t>
            </a:r>
            <a:r>
              <a:rPr lang="en-US" sz="2800" b="1" dirty="0">
                <a:latin typeface="Comic Sans MS"/>
                <a:cs typeface="Calibri"/>
              </a:rPr>
              <a:t>Customer Attraction:</a:t>
            </a:r>
            <a:r>
              <a:rPr lang="en-US" dirty="0">
                <a:cs typeface="Calibri"/>
              </a:rPr>
              <a:t> </a:t>
            </a:r>
            <a:endParaRPr lang="en-US">
              <a:cs typeface="Calibri"/>
            </a:endParaRPr>
          </a:p>
          <a:p>
            <a:pPr algn="ctr"/>
            <a:endParaRPr lang="en-US">
              <a:cs typeface="Calibri"/>
            </a:endParaRPr>
          </a:p>
          <a:p>
            <a:r>
              <a:rPr lang="en-US" dirty="0"/>
              <a:t>       </a:t>
            </a:r>
            <a:r>
              <a:rPr lang="en-US" dirty="0">
                <a:latin typeface="Calibri"/>
                <a:cs typeface="Calibri"/>
              </a:rPr>
              <a:t>                                                        </a:t>
            </a:r>
            <a:r>
              <a:rPr lang="en-US" sz="2200" dirty="0">
                <a:latin typeface="Comic Sans MS"/>
              </a:rPr>
              <a:t>• Good Environment &amp; Weather </a:t>
            </a:r>
          </a:p>
          <a:p>
            <a:r>
              <a:rPr lang="en-US" sz="2200" dirty="0">
                <a:latin typeface="Comic Sans MS"/>
              </a:rPr>
              <a:t>                                       • Decoration </a:t>
            </a:r>
            <a:endParaRPr lang="en-US" sz="2200">
              <a:latin typeface="Comic Sans MS"/>
              <a:cs typeface="Calibri"/>
            </a:endParaRPr>
          </a:p>
          <a:p>
            <a:r>
              <a:rPr lang="en-US" sz="2200" dirty="0">
                <a:latin typeface="Comic Sans MS"/>
              </a:rPr>
              <a:t>                                       • Membership Card </a:t>
            </a:r>
            <a:endParaRPr lang="en-US" sz="2200" dirty="0">
              <a:latin typeface="Comic Sans MS"/>
              <a:cs typeface="Calibri"/>
            </a:endParaRPr>
          </a:p>
          <a:p>
            <a:r>
              <a:rPr lang="en-US" sz="2200" dirty="0">
                <a:latin typeface="Comic Sans MS"/>
              </a:rPr>
              <a:t>                                       • Discount </a:t>
            </a:r>
            <a:endParaRPr lang="en-US" sz="2200" dirty="0">
              <a:latin typeface="Comic Sans MS"/>
              <a:cs typeface="Calibri"/>
            </a:endParaRPr>
          </a:p>
          <a:p>
            <a:r>
              <a:rPr lang="en-US" sz="2200" dirty="0">
                <a:latin typeface="Comic Sans MS"/>
                <a:cs typeface="Calibri"/>
              </a:rPr>
              <a:t>                           </a:t>
            </a:r>
            <a:r>
              <a:rPr lang="en-US" sz="2200" dirty="0">
                <a:latin typeface="Comic Sans MS"/>
              </a:rPr>
              <a:t>            • Coupons </a:t>
            </a:r>
            <a:endParaRPr lang="en-US" sz="2200" dirty="0">
              <a:latin typeface="Comic Sans MS"/>
              <a:cs typeface="Calibri"/>
            </a:endParaRPr>
          </a:p>
          <a:p>
            <a:r>
              <a:rPr lang="en-US" sz="2200">
                <a:latin typeface="Comic Sans MS"/>
              </a:rPr>
              <a:t>                                       • </a:t>
            </a:r>
            <a:r>
              <a:rPr lang="en-US" sz="2200" dirty="0" err="1">
                <a:latin typeface="Comic Sans MS"/>
              </a:rPr>
              <a:t>Wifi</a:t>
            </a:r>
            <a:r>
              <a:rPr lang="en-US" sz="2200" dirty="0">
                <a:latin typeface="Comic Sans MS"/>
              </a:rPr>
              <a:t>  </a:t>
            </a:r>
          </a:p>
        </p:txBody>
      </p:sp>
    </p:spTree>
    <p:extLst>
      <p:ext uri="{BB962C8B-B14F-4D97-AF65-F5344CB8AC3E}">
        <p14:creationId xmlns:p14="http://schemas.microsoft.com/office/powerpoint/2010/main" val="3570094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8811F1-6FED-4016-BBE0-4085E9306A44}"/>
              </a:ext>
            </a:extLst>
          </p:cNvPr>
          <p:cNvSpPr txBox="1"/>
          <p:nvPr/>
        </p:nvSpPr>
        <p:spPr>
          <a:xfrm>
            <a:off x="871268" y="1209135"/>
            <a:ext cx="10463841" cy="464742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dirty="0">
                <a:latin typeface="Comic Sans MS"/>
              </a:rPr>
              <a:t>2. Market promotion: </a:t>
            </a:r>
            <a:endParaRPr lang="en-US" sz="2800" b="1">
              <a:latin typeface="Comic Sans MS"/>
            </a:endParaRPr>
          </a:p>
          <a:p>
            <a:pPr algn="just"/>
            <a:endParaRPr lang="en-US" dirty="0">
              <a:cs typeface="Calibri"/>
            </a:endParaRPr>
          </a:p>
          <a:p>
            <a:pPr algn="just"/>
            <a:r>
              <a:rPr lang="en-US" sz="2400" b="1" dirty="0">
                <a:latin typeface="Comic Sans MS"/>
              </a:rPr>
              <a:t>• Posters:</a:t>
            </a:r>
            <a:r>
              <a:rPr lang="en-US" sz="2400" dirty="0">
                <a:latin typeface="Comic Sans MS"/>
              </a:rPr>
              <a:t> </a:t>
            </a:r>
            <a:r>
              <a:rPr lang="en-US" sz="2200" b="1" i="1" dirty="0">
                <a:latin typeface="Comic Sans MS"/>
              </a:rPr>
              <a:t>Posters</a:t>
            </a:r>
            <a:r>
              <a:rPr lang="en-US" sz="2200" dirty="0">
                <a:latin typeface="Comic Sans MS"/>
              </a:rPr>
              <a:t> can help us attract attention of customer in an unconscious state while are travelling on road or walking. </a:t>
            </a:r>
            <a:r>
              <a:rPr lang="en-US" sz="2200" b="1" i="1" dirty="0">
                <a:latin typeface="Comic Sans MS"/>
              </a:rPr>
              <a:t>Pamphlets, flyers</a:t>
            </a:r>
            <a:r>
              <a:rPr lang="en-US" sz="2200" dirty="0">
                <a:latin typeface="Comic Sans MS"/>
              </a:rPr>
              <a:t> put inside newspaper or supplied at door step can be of great help. </a:t>
            </a:r>
          </a:p>
          <a:p>
            <a:pPr algn="just"/>
            <a:endParaRPr lang="en-US" sz="2200" dirty="0">
              <a:latin typeface="Comic Sans MS"/>
              <a:cs typeface="Calibri"/>
            </a:endParaRPr>
          </a:p>
          <a:p>
            <a:pPr algn="just"/>
            <a:r>
              <a:rPr lang="en-US" sz="2400" b="1" dirty="0">
                <a:latin typeface="Comic Sans MS"/>
              </a:rPr>
              <a:t>• Advertisement:</a:t>
            </a:r>
            <a:r>
              <a:rPr lang="en-US" b="1" i="1" dirty="0"/>
              <a:t> </a:t>
            </a:r>
            <a:r>
              <a:rPr lang="en-US" sz="2200" b="1" i="1" dirty="0">
                <a:latin typeface="Comic Sans MS"/>
              </a:rPr>
              <a:t>Local Newspaper</a:t>
            </a:r>
            <a:r>
              <a:rPr lang="en-US" sz="2200" dirty="0">
                <a:latin typeface="Comic Sans MS"/>
              </a:rPr>
              <a:t> advertisement would help in raising awareness as well as credulity of the coffee-shop, as Newspaper are being read by mass population and is also trusted upon the facts portrayed by newspaper.  </a:t>
            </a:r>
            <a:endParaRPr lang="en-US" sz="2200">
              <a:latin typeface="Comic Sans MS"/>
            </a:endParaRPr>
          </a:p>
          <a:p>
            <a:pPr algn="just"/>
            <a:endParaRPr lang="en-US" sz="2400" dirty="0">
              <a:latin typeface="Comic Sans MS"/>
            </a:endParaRPr>
          </a:p>
          <a:p>
            <a:pPr algn="just"/>
            <a:r>
              <a:rPr lang="en-US" sz="2400" b="1" dirty="0">
                <a:latin typeface="Comic Sans MS"/>
              </a:rPr>
              <a:t>• Online Advertising:</a:t>
            </a:r>
            <a:r>
              <a:rPr lang="en-US" dirty="0"/>
              <a:t> </a:t>
            </a:r>
            <a:r>
              <a:rPr lang="en-US" sz="2200" dirty="0">
                <a:latin typeface="Comic Sans MS"/>
              </a:rPr>
              <a:t>Photo and video promotion on </a:t>
            </a:r>
            <a:r>
              <a:rPr lang="en-US" sz="2200" b="1" i="1" dirty="0">
                <a:latin typeface="Comic Sans MS"/>
              </a:rPr>
              <a:t>Facebook and YouTube</a:t>
            </a:r>
            <a:r>
              <a:rPr lang="en-US" sz="2200" dirty="0">
                <a:latin typeface="Comic Sans MS"/>
              </a:rPr>
              <a:t> can give extra mileage to viral marketing. </a:t>
            </a:r>
            <a:endParaRPr lang="en-US" sz="2200" dirty="0">
              <a:latin typeface="Comic Sans MS"/>
              <a:cs typeface="Calibri"/>
            </a:endParaRPr>
          </a:p>
        </p:txBody>
      </p:sp>
    </p:spTree>
    <p:extLst>
      <p:ext uri="{BB962C8B-B14F-4D97-AF65-F5344CB8AC3E}">
        <p14:creationId xmlns:p14="http://schemas.microsoft.com/office/powerpoint/2010/main" val="2898423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863216-86E1-43F8-B64F-209537F2A05D}"/>
              </a:ext>
            </a:extLst>
          </p:cNvPr>
          <p:cNvSpPr txBox="1"/>
          <p:nvPr/>
        </p:nvSpPr>
        <p:spPr>
          <a:xfrm>
            <a:off x="454325" y="547778"/>
            <a:ext cx="11283350" cy="378565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8000" dirty="0">
              <a:latin typeface="Comic Sans MS"/>
            </a:endParaRPr>
          </a:p>
          <a:p>
            <a:pPr algn="ctr"/>
            <a:r>
              <a:rPr lang="en-US" sz="8000" dirty="0">
                <a:latin typeface="Comic Sans MS"/>
              </a:rPr>
              <a:t>Human Resource Management</a:t>
            </a:r>
            <a:endParaRPr lang="en-US" sz="8000">
              <a:latin typeface="Calibri"/>
              <a:cs typeface="Calibri"/>
            </a:endParaRPr>
          </a:p>
        </p:txBody>
      </p:sp>
    </p:spTree>
    <p:extLst>
      <p:ext uri="{BB962C8B-B14F-4D97-AF65-F5344CB8AC3E}">
        <p14:creationId xmlns:p14="http://schemas.microsoft.com/office/powerpoint/2010/main" val="2068985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167047-B0AE-4EF6-A7F9-44C82DD2B33B}"/>
              </a:ext>
            </a:extLst>
          </p:cNvPr>
          <p:cNvSpPr txBox="1"/>
          <p:nvPr/>
        </p:nvSpPr>
        <p:spPr>
          <a:xfrm>
            <a:off x="842514" y="892834"/>
            <a:ext cx="10492595" cy="523220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latin typeface="Comic Sans MS"/>
              </a:rPr>
              <a:t>HRM is defined as the process of managing employees in a company and it can be involved hiring, firing, training and motivating employees. An example of human resource management is the way in which a company hires new employees and trains those new workers. </a:t>
            </a:r>
            <a:endParaRPr lang="en-US" sz="2400" dirty="0">
              <a:latin typeface="Comic Sans MS"/>
              <a:cs typeface="Calibri"/>
            </a:endParaRPr>
          </a:p>
          <a:p>
            <a:endParaRPr lang="en-US"/>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p>
          <a:p>
            <a:r>
              <a:rPr lang="en-US" sz="2800" b="1" dirty="0">
                <a:latin typeface="Comic Sans MS"/>
              </a:rPr>
              <a:t>Management:</a:t>
            </a:r>
            <a:r>
              <a:rPr lang="en-US" sz="2800" dirty="0"/>
              <a:t> </a:t>
            </a:r>
            <a:endParaRPr lang="en-US" sz="2800" dirty="0">
              <a:cs typeface="Calibri"/>
            </a:endParaRPr>
          </a:p>
          <a:p>
            <a:r>
              <a:rPr lang="en-US" sz="2200" dirty="0">
                <a:latin typeface="Calibri"/>
                <a:cs typeface="Calibri"/>
              </a:rPr>
              <a:t>I.</a:t>
            </a:r>
            <a:r>
              <a:rPr lang="en-US" sz="2200" dirty="0">
                <a:latin typeface="Comic Sans MS"/>
              </a:rPr>
              <a:t> Manager has to work full time from opening hours to closing hours. </a:t>
            </a:r>
            <a:endParaRPr lang="en-US" sz="2200">
              <a:latin typeface="Comic Sans MS"/>
            </a:endParaRPr>
          </a:p>
          <a:p>
            <a:r>
              <a:rPr lang="en-US" sz="2200" dirty="0">
                <a:latin typeface="Calibri"/>
                <a:cs typeface="Calibri"/>
              </a:rPr>
              <a:t>II.</a:t>
            </a:r>
            <a:r>
              <a:rPr lang="en-US" sz="2200" dirty="0">
                <a:latin typeface="Comic Sans MS"/>
              </a:rPr>
              <a:t> Creative Coffee Artists have to work 6hours each of them. </a:t>
            </a:r>
          </a:p>
          <a:p>
            <a:r>
              <a:rPr lang="en-US" sz="2200" dirty="0">
                <a:latin typeface="Calibri"/>
                <a:cs typeface="Calibri"/>
              </a:rPr>
              <a:t>III.</a:t>
            </a:r>
            <a:r>
              <a:rPr lang="en-US" sz="2200" dirty="0">
                <a:latin typeface="Comic Sans MS"/>
              </a:rPr>
              <a:t> Waiters have to work 6hours each of them in 2 groups. </a:t>
            </a:r>
            <a:endParaRPr lang="en-US" sz="2200" dirty="0">
              <a:latin typeface="Comic Sans MS"/>
              <a:cs typeface="Calibri"/>
            </a:endParaRPr>
          </a:p>
        </p:txBody>
      </p:sp>
      <p:graphicFrame>
        <p:nvGraphicFramePr>
          <p:cNvPr id="3" name="Table 3">
            <a:extLst>
              <a:ext uri="{FF2B5EF4-FFF2-40B4-BE49-F238E27FC236}">
                <a16:creationId xmlns:a16="http://schemas.microsoft.com/office/drawing/2014/main" id="{7BE77489-0FA9-4C5A-BCC1-752BCD55B24C}"/>
              </a:ext>
            </a:extLst>
          </p:cNvPr>
          <p:cNvGraphicFramePr>
            <a:graphicFrameLocks noGrp="1"/>
          </p:cNvGraphicFramePr>
          <p:nvPr>
            <p:extLst>
              <p:ext uri="{D42A27DB-BD31-4B8C-83A1-F6EECF244321}">
                <p14:modId xmlns:p14="http://schemas.microsoft.com/office/powerpoint/2010/main" val="3272948434"/>
              </p:ext>
            </p:extLst>
          </p:nvPr>
        </p:nvGraphicFramePr>
        <p:xfrm>
          <a:off x="1307189" y="2605811"/>
          <a:ext cx="9649589" cy="1601752"/>
        </p:xfrm>
        <a:graphic>
          <a:graphicData uri="http://schemas.openxmlformats.org/drawingml/2006/table">
            <a:tbl>
              <a:tblPr firstRow="1" bandRow="1">
                <a:tableStyleId>{5C22544A-7EE6-4342-B048-85BDC9FD1C3A}</a:tableStyleId>
              </a:tblPr>
              <a:tblGrid>
                <a:gridCol w="2736979">
                  <a:extLst>
                    <a:ext uri="{9D8B030D-6E8A-4147-A177-3AD203B41FA5}">
                      <a16:colId xmlns:a16="http://schemas.microsoft.com/office/drawing/2014/main" val="1386168169"/>
                    </a:ext>
                  </a:extLst>
                </a:gridCol>
                <a:gridCol w="1586204">
                  <a:extLst>
                    <a:ext uri="{9D8B030D-6E8A-4147-A177-3AD203B41FA5}">
                      <a16:colId xmlns:a16="http://schemas.microsoft.com/office/drawing/2014/main" val="4109518326"/>
                    </a:ext>
                  </a:extLst>
                </a:gridCol>
                <a:gridCol w="2914008">
                  <a:extLst>
                    <a:ext uri="{9D8B030D-6E8A-4147-A177-3AD203B41FA5}">
                      <a16:colId xmlns:a16="http://schemas.microsoft.com/office/drawing/2014/main" val="297006249"/>
                    </a:ext>
                  </a:extLst>
                </a:gridCol>
                <a:gridCol w="2412398">
                  <a:extLst>
                    <a:ext uri="{9D8B030D-6E8A-4147-A177-3AD203B41FA5}">
                      <a16:colId xmlns:a16="http://schemas.microsoft.com/office/drawing/2014/main" val="3691514079"/>
                    </a:ext>
                  </a:extLst>
                </a:gridCol>
              </a:tblGrid>
              <a:tr h="400438">
                <a:tc>
                  <a:txBody>
                    <a:bodyPr/>
                    <a:lstStyle/>
                    <a:p>
                      <a:pPr algn="ctr"/>
                      <a:r>
                        <a:rPr lang="en-US" dirty="0"/>
                        <a:t>Position</a:t>
                      </a:r>
                    </a:p>
                  </a:txBody>
                  <a:tcPr/>
                </a:tc>
                <a:tc>
                  <a:txBody>
                    <a:bodyPr/>
                    <a:lstStyle/>
                    <a:p>
                      <a:pPr algn="ctr"/>
                      <a:r>
                        <a:rPr lang="en-US" dirty="0"/>
                        <a:t>Members</a:t>
                      </a:r>
                    </a:p>
                  </a:txBody>
                  <a:tcPr/>
                </a:tc>
                <a:tc>
                  <a:txBody>
                    <a:bodyPr/>
                    <a:lstStyle/>
                    <a:p>
                      <a:pPr algn="ctr"/>
                      <a:r>
                        <a:rPr lang="en-US" dirty="0"/>
                        <a:t>Salary (Each members)</a:t>
                      </a:r>
                    </a:p>
                  </a:txBody>
                  <a:tcPr/>
                </a:tc>
                <a:tc>
                  <a:txBody>
                    <a:bodyPr/>
                    <a:lstStyle/>
                    <a:p>
                      <a:pPr algn="ctr"/>
                      <a:r>
                        <a:rPr lang="en-US" dirty="0"/>
                        <a:t>Working Hour</a:t>
                      </a:r>
                    </a:p>
                  </a:txBody>
                  <a:tcPr/>
                </a:tc>
                <a:extLst>
                  <a:ext uri="{0D108BD9-81ED-4DB2-BD59-A6C34878D82A}">
                    <a16:rowId xmlns:a16="http://schemas.microsoft.com/office/drawing/2014/main" val="2432205228"/>
                  </a:ext>
                </a:extLst>
              </a:tr>
              <a:tr h="400438">
                <a:tc>
                  <a:txBody>
                    <a:bodyPr/>
                    <a:lstStyle/>
                    <a:p>
                      <a:pPr algn="ctr"/>
                      <a:r>
                        <a:rPr lang="en-US" dirty="0"/>
                        <a:t>Manager</a:t>
                      </a:r>
                    </a:p>
                  </a:txBody>
                  <a:tcPr/>
                </a:tc>
                <a:tc>
                  <a:txBody>
                    <a:bodyPr/>
                    <a:lstStyle/>
                    <a:p>
                      <a:pPr algn="ctr"/>
                      <a:r>
                        <a:rPr lang="en-US" dirty="0"/>
                        <a:t>1</a:t>
                      </a:r>
                    </a:p>
                  </a:txBody>
                  <a:tcPr/>
                </a:tc>
                <a:tc>
                  <a:txBody>
                    <a:bodyPr/>
                    <a:lstStyle/>
                    <a:p>
                      <a:pPr algn="ctr"/>
                      <a:r>
                        <a:rPr lang="en-US" dirty="0"/>
                        <a:t>10000tk</a:t>
                      </a:r>
                    </a:p>
                  </a:txBody>
                  <a:tcPr/>
                </a:tc>
                <a:tc>
                  <a:txBody>
                    <a:bodyPr/>
                    <a:lstStyle/>
                    <a:p>
                      <a:pPr algn="ctr"/>
                      <a:r>
                        <a:rPr lang="en-US" dirty="0"/>
                        <a:t>12hrs</a:t>
                      </a:r>
                    </a:p>
                  </a:txBody>
                  <a:tcPr/>
                </a:tc>
                <a:extLst>
                  <a:ext uri="{0D108BD9-81ED-4DB2-BD59-A6C34878D82A}">
                    <a16:rowId xmlns:a16="http://schemas.microsoft.com/office/drawing/2014/main" val="1098705618"/>
                  </a:ext>
                </a:extLst>
              </a:tr>
              <a:tr h="400438">
                <a:tc>
                  <a:txBody>
                    <a:bodyPr/>
                    <a:lstStyle/>
                    <a:p>
                      <a:pPr algn="ctr"/>
                      <a:r>
                        <a:rPr lang="en-US" dirty="0"/>
                        <a:t>Creative Coffee Artists</a:t>
                      </a:r>
                    </a:p>
                  </a:txBody>
                  <a:tcPr/>
                </a:tc>
                <a:tc>
                  <a:txBody>
                    <a:bodyPr/>
                    <a:lstStyle/>
                    <a:p>
                      <a:pPr algn="ctr"/>
                      <a:r>
                        <a:rPr lang="en-US" dirty="0"/>
                        <a:t>2</a:t>
                      </a:r>
                    </a:p>
                  </a:txBody>
                  <a:tcPr/>
                </a:tc>
                <a:tc>
                  <a:txBody>
                    <a:bodyPr/>
                    <a:lstStyle/>
                    <a:p>
                      <a:pPr algn="ctr"/>
                      <a:r>
                        <a:rPr lang="en-US" dirty="0"/>
                        <a:t>6000tk</a:t>
                      </a:r>
                    </a:p>
                  </a:txBody>
                  <a:tcPr/>
                </a:tc>
                <a:tc>
                  <a:txBody>
                    <a:bodyPr/>
                    <a:lstStyle/>
                    <a:p>
                      <a:pPr algn="ctr"/>
                      <a:r>
                        <a:rPr lang="en-US" dirty="0"/>
                        <a:t>6hrs</a:t>
                      </a:r>
                    </a:p>
                  </a:txBody>
                  <a:tcPr/>
                </a:tc>
                <a:extLst>
                  <a:ext uri="{0D108BD9-81ED-4DB2-BD59-A6C34878D82A}">
                    <a16:rowId xmlns:a16="http://schemas.microsoft.com/office/drawing/2014/main" val="1982149674"/>
                  </a:ext>
                </a:extLst>
              </a:tr>
              <a:tr h="400438">
                <a:tc>
                  <a:txBody>
                    <a:bodyPr/>
                    <a:lstStyle/>
                    <a:p>
                      <a:pPr algn="ctr"/>
                      <a:r>
                        <a:rPr lang="en-US" dirty="0"/>
                        <a:t>Waiters</a:t>
                      </a:r>
                    </a:p>
                  </a:txBody>
                  <a:tcPr/>
                </a:tc>
                <a:tc>
                  <a:txBody>
                    <a:bodyPr/>
                    <a:lstStyle/>
                    <a:p>
                      <a:pPr algn="ctr"/>
                      <a:r>
                        <a:rPr lang="en-US" dirty="0"/>
                        <a:t>8</a:t>
                      </a:r>
                    </a:p>
                  </a:txBody>
                  <a:tcPr/>
                </a:tc>
                <a:tc>
                  <a:txBody>
                    <a:bodyPr/>
                    <a:lstStyle/>
                    <a:p>
                      <a:pPr algn="ctr"/>
                      <a:r>
                        <a:rPr lang="en-US" dirty="0"/>
                        <a:t>4500tk</a:t>
                      </a:r>
                    </a:p>
                  </a:txBody>
                  <a:tcPr/>
                </a:tc>
                <a:tc>
                  <a:txBody>
                    <a:bodyPr/>
                    <a:lstStyle/>
                    <a:p>
                      <a:pPr algn="ctr"/>
                      <a:r>
                        <a:rPr lang="en-US" dirty="0"/>
                        <a:t>6hrs</a:t>
                      </a:r>
                    </a:p>
                  </a:txBody>
                  <a:tcPr/>
                </a:tc>
                <a:extLst>
                  <a:ext uri="{0D108BD9-81ED-4DB2-BD59-A6C34878D82A}">
                    <a16:rowId xmlns:a16="http://schemas.microsoft.com/office/drawing/2014/main" val="422233040"/>
                  </a:ext>
                </a:extLst>
              </a:tr>
            </a:tbl>
          </a:graphicData>
        </a:graphic>
      </p:graphicFrame>
    </p:spTree>
    <p:extLst>
      <p:ext uri="{BB962C8B-B14F-4D97-AF65-F5344CB8AC3E}">
        <p14:creationId xmlns:p14="http://schemas.microsoft.com/office/powerpoint/2010/main" val="888129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080D8-144D-425C-A938-7676A56505DD}"/>
              </a:ext>
            </a:extLst>
          </p:cNvPr>
          <p:cNvSpPr txBox="1"/>
          <p:nvPr/>
        </p:nvSpPr>
        <p:spPr>
          <a:xfrm>
            <a:off x="2179608" y="2675627"/>
            <a:ext cx="7976558"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dirty="0">
                <a:latin typeface="Comic Sans MS"/>
              </a:rPr>
              <a:t>Operation</a:t>
            </a:r>
            <a:endParaRPr lang="en-US" sz="8000" dirty="0">
              <a:latin typeface="Comic Sans MS"/>
              <a:cs typeface="Calibri"/>
            </a:endParaRPr>
          </a:p>
        </p:txBody>
      </p:sp>
    </p:spTree>
    <p:extLst>
      <p:ext uri="{BB962C8B-B14F-4D97-AF65-F5344CB8AC3E}">
        <p14:creationId xmlns:p14="http://schemas.microsoft.com/office/powerpoint/2010/main" val="1346659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DEB1DB-DF11-4662-AE2C-94C06B350C0B}"/>
              </a:ext>
            </a:extLst>
          </p:cNvPr>
          <p:cNvSpPr txBox="1"/>
          <p:nvPr/>
        </p:nvSpPr>
        <p:spPr>
          <a:xfrm>
            <a:off x="1173193" y="1223513"/>
            <a:ext cx="9931878" cy="432527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dirty="0">
                <a:latin typeface="Comic Sans MS"/>
              </a:rPr>
              <a:t>• Our mission is to will provide a friendly, comfortable atmosphere where the customers can receive quality food, drinks, and service at a reasonable price. </a:t>
            </a:r>
            <a:endParaRPr lang="en-US"/>
          </a:p>
          <a:p>
            <a:pPr algn="just"/>
            <a:endParaRPr lang="en-US" sz="2400" dirty="0">
              <a:latin typeface="Comic Sans MS"/>
            </a:endParaRPr>
          </a:p>
          <a:p>
            <a:pPr algn="just"/>
            <a:r>
              <a:rPr lang="en-US" sz="2800" dirty="0">
                <a:latin typeface="Comic Sans MS"/>
              </a:rPr>
              <a:t>• Our café will offer a variety of choices to the customers. Cappuccinos, espressos, regular coffee, soft-drinks, and tea of all sorts will be available. </a:t>
            </a:r>
            <a:endParaRPr lang="en-US" sz="2800" dirty="0">
              <a:latin typeface="Comic Sans MS"/>
              <a:cs typeface="Calibri"/>
            </a:endParaRPr>
          </a:p>
          <a:p>
            <a:pPr algn="just"/>
            <a:endParaRPr lang="en-US" sz="2800" dirty="0">
              <a:cs typeface="Calibri"/>
            </a:endParaRPr>
          </a:p>
          <a:p>
            <a:pPr algn="just"/>
            <a:r>
              <a:rPr lang="en-US" sz="2800" dirty="0">
                <a:latin typeface="Comic Sans MS"/>
              </a:rPr>
              <a:t>• Coffee Spot Café will be open from 8:00 A.M. to 10:00 P.M. 7 Days in a Week. </a:t>
            </a:r>
            <a:endParaRPr lang="en-US" dirty="0">
              <a:latin typeface="Comic Sans MS"/>
            </a:endParaRPr>
          </a:p>
        </p:txBody>
      </p:sp>
    </p:spTree>
    <p:extLst>
      <p:ext uri="{BB962C8B-B14F-4D97-AF65-F5344CB8AC3E}">
        <p14:creationId xmlns:p14="http://schemas.microsoft.com/office/powerpoint/2010/main" val="2962444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2F5D1-A12E-4116-BC6E-03DF240761BF}"/>
              </a:ext>
            </a:extLst>
          </p:cNvPr>
          <p:cNvSpPr txBox="1"/>
          <p:nvPr/>
        </p:nvSpPr>
        <p:spPr>
          <a:xfrm>
            <a:off x="741872" y="2531853"/>
            <a:ext cx="10751388"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dirty="0">
                <a:latin typeface="Comic Sans MS"/>
              </a:rPr>
              <a:t>Organization</a:t>
            </a:r>
            <a:endParaRPr lang="en-US" sz="8000">
              <a:latin typeface="Comic Sans MS"/>
              <a:cs typeface="Calibri"/>
            </a:endParaRPr>
          </a:p>
        </p:txBody>
      </p:sp>
    </p:spTree>
    <p:extLst>
      <p:ext uri="{BB962C8B-B14F-4D97-AF65-F5344CB8AC3E}">
        <p14:creationId xmlns:p14="http://schemas.microsoft.com/office/powerpoint/2010/main" val="3500688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3969E2-7A0C-418F-8926-7C8A25ACD4DF}"/>
              </a:ext>
            </a:extLst>
          </p:cNvPr>
          <p:cNvSpPr txBox="1"/>
          <p:nvPr/>
        </p:nvSpPr>
        <p:spPr>
          <a:xfrm>
            <a:off x="1230702" y="849702"/>
            <a:ext cx="8867953" cy="519148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latin typeface="Comic Sans MS"/>
              </a:rPr>
              <a:t>• Automatic Drip Coffee Makers.  </a:t>
            </a:r>
            <a:endParaRPr lang="en-US" sz="2800">
              <a:latin typeface="Comic Sans MS"/>
              <a:cs typeface="Calibri"/>
            </a:endParaRPr>
          </a:p>
          <a:p>
            <a:pPr>
              <a:lnSpc>
                <a:spcPct val="150000"/>
              </a:lnSpc>
            </a:pPr>
            <a:r>
              <a:rPr lang="en-US" sz="2800" dirty="0">
                <a:latin typeface="Comic Sans MS"/>
              </a:rPr>
              <a:t>• A High-Quality Espresso Machine.</a:t>
            </a:r>
            <a:endParaRPr lang="en-US" sz="2800">
              <a:latin typeface="Comic Sans MS"/>
              <a:cs typeface="Calibri"/>
            </a:endParaRPr>
          </a:p>
          <a:p>
            <a:pPr>
              <a:lnSpc>
                <a:spcPct val="150000"/>
              </a:lnSpc>
            </a:pPr>
            <a:r>
              <a:rPr lang="en-US" sz="2800" dirty="0">
                <a:latin typeface="Comic Sans MS"/>
              </a:rPr>
              <a:t>• An Industrial Coffee Grinder. </a:t>
            </a:r>
            <a:endParaRPr lang="en-US" sz="2800">
              <a:latin typeface="Comic Sans MS"/>
              <a:cs typeface="Calibri"/>
            </a:endParaRPr>
          </a:p>
          <a:p>
            <a:pPr>
              <a:lnSpc>
                <a:spcPct val="150000"/>
              </a:lnSpc>
            </a:pPr>
            <a:r>
              <a:rPr lang="en-US" sz="2800" dirty="0">
                <a:latin typeface="Comic Sans MS"/>
              </a:rPr>
              <a:t>• Milk and Water. </a:t>
            </a:r>
            <a:endParaRPr lang="en-US" sz="2800">
              <a:latin typeface="Comic Sans MS"/>
              <a:cs typeface="Calibri"/>
            </a:endParaRPr>
          </a:p>
          <a:p>
            <a:pPr>
              <a:lnSpc>
                <a:spcPct val="150000"/>
              </a:lnSpc>
            </a:pPr>
            <a:r>
              <a:rPr lang="en-US" sz="2800" dirty="0">
                <a:latin typeface="Comic Sans MS"/>
              </a:rPr>
              <a:t>• Refrigeration System. </a:t>
            </a:r>
            <a:endParaRPr lang="en-US" sz="2800">
              <a:latin typeface="Comic Sans MS"/>
              <a:cs typeface="Calibri"/>
            </a:endParaRPr>
          </a:p>
          <a:p>
            <a:pPr>
              <a:lnSpc>
                <a:spcPct val="150000"/>
              </a:lnSpc>
            </a:pPr>
            <a:r>
              <a:rPr lang="en-US" sz="2800" dirty="0">
                <a:latin typeface="Comic Sans MS"/>
              </a:rPr>
              <a:t>• Containers, Pumps and Assorted Miscellaneous. </a:t>
            </a:r>
            <a:endParaRPr lang="en-US" sz="2800">
              <a:latin typeface="Comic Sans MS"/>
              <a:cs typeface="Calibri"/>
            </a:endParaRPr>
          </a:p>
          <a:p>
            <a:pPr>
              <a:lnSpc>
                <a:spcPct val="150000"/>
              </a:lnSpc>
            </a:pPr>
            <a:r>
              <a:rPr lang="en-US" sz="2800" dirty="0">
                <a:latin typeface="Comic Sans MS"/>
              </a:rPr>
              <a:t>• Ovens, Toasters, and Devices Used for Cooking.  </a:t>
            </a:r>
            <a:endParaRPr lang="en-US" sz="2800">
              <a:latin typeface="Comic Sans MS"/>
              <a:cs typeface="Calibri"/>
            </a:endParaRPr>
          </a:p>
          <a:p>
            <a:pPr>
              <a:lnSpc>
                <a:spcPct val="150000"/>
              </a:lnSpc>
            </a:pPr>
            <a:r>
              <a:rPr lang="en-US" sz="2800" dirty="0">
                <a:latin typeface="Comic Sans MS"/>
              </a:rPr>
              <a:t>• Security System.</a:t>
            </a:r>
            <a:endParaRPr lang="en-US" sz="2800">
              <a:latin typeface="Comic Sans MS"/>
              <a:cs typeface="Calibri"/>
            </a:endParaRPr>
          </a:p>
        </p:txBody>
      </p:sp>
    </p:spTree>
    <p:extLst>
      <p:ext uri="{BB962C8B-B14F-4D97-AF65-F5344CB8AC3E}">
        <p14:creationId xmlns:p14="http://schemas.microsoft.com/office/powerpoint/2010/main" val="4114359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AE3F9-6164-4E8F-8B9B-F2655260C4F0}"/>
              </a:ext>
            </a:extLst>
          </p:cNvPr>
          <p:cNvSpPr txBox="1"/>
          <p:nvPr/>
        </p:nvSpPr>
        <p:spPr>
          <a:xfrm>
            <a:off x="1906438" y="1827362"/>
            <a:ext cx="3260785" cy="1015663"/>
          </a:xfrm>
          <a:prstGeom prst="rect">
            <a:avLst/>
          </a:prstGeom>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dirty="0">
                <a:latin typeface="Comic Sans MS"/>
                <a:cs typeface="Calibri"/>
              </a:rPr>
              <a:t>Manager</a:t>
            </a:r>
            <a:endParaRPr lang="en-US" sz="4000">
              <a:cs typeface="Calibri"/>
            </a:endParaRPr>
          </a:p>
        </p:txBody>
      </p:sp>
      <p:sp>
        <p:nvSpPr>
          <p:cNvPr id="3" name="TextBox 2">
            <a:extLst>
              <a:ext uri="{FF2B5EF4-FFF2-40B4-BE49-F238E27FC236}">
                <a16:creationId xmlns:a16="http://schemas.microsoft.com/office/drawing/2014/main" id="{7C39DECE-54CA-46BF-BE56-72FC6828E32B}"/>
              </a:ext>
            </a:extLst>
          </p:cNvPr>
          <p:cNvSpPr txBox="1"/>
          <p:nvPr/>
        </p:nvSpPr>
        <p:spPr>
          <a:xfrm>
            <a:off x="3933645" y="5076644"/>
            <a:ext cx="1966823" cy="646331"/>
          </a:xfrm>
          <a:prstGeom prst="rect">
            <a:avLst/>
          </a:prstGeom>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omic Sans MS"/>
              </a:rPr>
              <a:t>Waiter</a:t>
            </a:r>
            <a:endParaRPr lang="en-US" sz="3600">
              <a:latin typeface="Comic Sans MS"/>
              <a:cs typeface="Calibri"/>
            </a:endParaRPr>
          </a:p>
        </p:txBody>
      </p:sp>
      <p:sp>
        <p:nvSpPr>
          <p:cNvPr id="4" name="TextBox 3">
            <a:extLst>
              <a:ext uri="{FF2B5EF4-FFF2-40B4-BE49-F238E27FC236}">
                <a16:creationId xmlns:a16="http://schemas.microsoft.com/office/drawing/2014/main" id="{17DD199B-D8C2-47B0-802D-64BD06AAA82D}"/>
              </a:ext>
            </a:extLst>
          </p:cNvPr>
          <p:cNvSpPr txBox="1"/>
          <p:nvPr/>
        </p:nvSpPr>
        <p:spPr>
          <a:xfrm>
            <a:off x="6349042" y="5062267"/>
            <a:ext cx="1966823" cy="646331"/>
          </a:xfrm>
          <a:prstGeom prst="rect">
            <a:avLst/>
          </a:prstGeom>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omic Sans MS"/>
              </a:rPr>
              <a:t>Waiter</a:t>
            </a:r>
            <a:endParaRPr lang="en-US" sz="3600" dirty="0">
              <a:latin typeface="Comic Sans MS"/>
              <a:cs typeface="Calibri"/>
            </a:endParaRPr>
          </a:p>
        </p:txBody>
      </p:sp>
      <p:sp>
        <p:nvSpPr>
          <p:cNvPr id="5" name="TextBox 4">
            <a:extLst>
              <a:ext uri="{FF2B5EF4-FFF2-40B4-BE49-F238E27FC236}">
                <a16:creationId xmlns:a16="http://schemas.microsoft.com/office/drawing/2014/main" id="{5A2E638C-131A-49E3-81B3-62445E2F38FB}"/>
              </a:ext>
            </a:extLst>
          </p:cNvPr>
          <p:cNvSpPr txBox="1"/>
          <p:nvPr/>
        </p:nvSpPr>
        <p:spPr>
          <a:xfrm>
            <a:off x="8836324" y="5062267"/>
            <a:ext cx="1966823" cy="646331"/>
          </a:xfrm>
          <a:prstGeom prst="rect">
            <a:avLst/>
          </a:prstGeom>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omic Sans MS"/>
                <a:cs typeface="Calibri"/>
              </a:rPr>
              <a:t>Waiter</a:t>
            </a:r>
            <a:endParaRPr lang="en-US" sz="3600" dirty="0">
              <a:latin typeface="Comic Sans MS"/>
            </a:endParaRPr>
          </a:p>
        </p:txBody>
      </p:sp>
      <p:sp>
        <p:nvSpPr>
          <p:cNvPr id="6" name="TextBox 5">
            <a:extLst>
              <a:ext uri="{FF2B5EF4-FFF2-40B4-BE49-F238E27FC236}">
                <a16:creationId xmlns:a16="http://schemas.microsoft.com/office/drawing/2014/main" id="{BBAEBCA8-8FDB-425D-9C6A-A19A3DD4918E}"/>
              </a:ext>
            </a:extLst>
          </p:cNvPr>
          <p:cNvSpPr txBox="1"/>
          <p:nvPr/>
        </p:nvSpPr>
        <p:spPr>
          <a:xfrm>
            <a:off x="1561380" y="5062267"/>
            <a:ext cx="1966823" cy="646331"/>
          </a:xfrm>
          <a:prstGeom prst="rect">
            <a:avLst/>
          </a:prstGeom>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omic Sans MS"/>
              </a:rPr>
              <a:t>Waiter</a:t>
            </a:r>
            <a:endParaRPr lang="en-US" sz="3600" dirty="0">
              <a:latin typeface="Comic Sans MS"/>
              <a:cs typeface="Calibri"/>
            </a:endParaRPr>
          </a:p>
        </p:txBody>
      </p:sp>
      <p:sp>
        <p:nvSpPr>
          <p:cNvPr id="7" name="TextBox 6">
            <a:extLst>
              <a:ext uri="{FF2B5EF4-FFF2-40B4-BE49-F238E27FC236}">
                <a16:creationId xmlns:a16="http://schemas.microsoft.com/office/drawing/2014/main" id="{C54DE860-9B23-480D-BA53-314501B05145}"/>
              </a:ext>
            </a:extLst>
          </p:cNvPr>
          <p:cNvSpPr txBox="1"/>
          <p:nvPr/>
        </p:nvSpPr>
        <p:spPr>
          <a:xfrm>
            <a:off x="6665343" y="2344947"/>
            <a:ext cx="4511614" cy="1200329"/>
          </a:xfrm>
          <a:prstGeom prst="rect">
            <a:avLst/>
          </a:prstGeom>
          <a:noFill/>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Comic Sans MS"/>
              </a:rPr>
              <a:t>Creative</a:t>
            </a:r>
            <a:r>
              <a:rPr lang="en-US" sz="3600" dirty="0">
                <a:latin typeface="Comic Sans MS"/>
                <a:cs typeface="Calibri"/>
              </a:rPr>
              <a:t> Coffee </a:t>
            </a:r>
            <a:endParaRPr lang="en-US">
              <a:latin typeface="Comic Sans MS"/>
              <a:cs typeface="Calibri"/>
            </a:endParaRPr>
          </a:p>
          <a:p>
            <a:pPr algn="ctr"/>
            <a:r>
              <a:rPr lang="en-US" sz="3600" dirty="0">
                <a:latin typeface="Comic Sans MS"/>
                <a:cs typeface="Calibri"/>
              </a:rPr>
              <a:t>Artist</a:t>
            </a:r>
            <a:endParaRPr lang="en-US">
              <a:latin typeface="Comic Sans MS"/>
              <a:cs typeface="Calibri"/>
            </a:endParaRPr>
          </a:p>
        </p:txBody>
      </p:sp>
      <p:cxnSp>
        <p:nvCxnSpPr>
          <p:cNvPr id="8" name="Straight Arrow Connector 7">
            <a:extLst>
              <a:ext uri="{FF2B5EF4-FFF2-40B4-BE49-F238E27FC236}">
                <a16:creationId xmlns:a16="http://schemas.microsoft.com/office/drawing/2014/main" id="{89BDF65F-5B71-48A8-839C-6F53468FAF88}"/>
              </a:ext>
            </a:extLst>
          </p:cNvPr>
          <p:cNvCxnSpPr/>
          <p:nvPr/>
        </p:nvCxnSpPr>
        <p:spPr>
          <a:xfrm>
            <a:off x="2461403" y="2849592"/>
            <a:ext cx="8627" cy="141760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FB05553-E042-4F5D-BE79-B2AE5FC26FEA}"/>
              </a:ext>
            </a:extLst>
          </p:cNvPr>
          <p:cNvCxnSpPr/>
          <p:nvPr/>
        </p:nvCxnSpPr>
        <p:spPr>
          <a:xfrm>
            <a:off x="2432647" y="4301706"/>
            <a:ext cx="7211684" cy="37383"/>
          </a:xfrm>
          <a:prstGeom prst="straightConnector1">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6417863-0F70-442F-B3B6-4502EAFAC4B5}"/>
              </a:ext>
            </a:extLst>
          </p:cNvPr>
          <p:cNvCxnSpPr/>
          <p:nvPr/>
        </p:nvCxnSpPr>
        <p:spPr>
          <a:xfrm flipH="1">
            <a:off x="4912233" y="4323783"/>
            <a:ext cx="5751" cy="756249"/>
          </a:xfrm>
          <a:prstGeom prst="straightConnector1">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C462C4C-6F7A-4C8E-82B9-4EE3FF40DBE5}"/>
              </a:ext>
            </a:extLst>
          </p:cNvPr>
          <p:cNvCxnSpPr/>
          <p:nvPr/>
        </p:nvCxnSpPr>
        <p:spPr>
          <a:xfrm flipH="1">
            <a:off x="9629955" y="4330460"/>
            <a:ext cx="5750" cy="727495"/>
          </a:xfrm>
          <a:prstGeom prst="straightConnector1">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BBA4C48-CBCF-4376-B4BB-E338B4EB2FFB}"/>
              </a:ext>
            </a:extLst>
          </p:cNvPr>
          <p:cNvCxnSpPr/>
          <p:nvPr/>
        </p:nvCxnSpPr>
        <p:spPr>
          <a:xfrm flipH="1">
            <a:off x="7358333" y="4330459"/>
            <a:ext cx="5750" cy="727495"/>
          </a:xfrm>
          <a:prstGeom prst="straightConnector1">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F457E9-E9B9-4692-AA83-A11D72466AE7}"/>
              </a:ext>
            </a:extLst>
          </p:cNvPr>
          <p:cNvCxnSpPr/>
          <p:nvPr/>
        </p:nvCxnSpPr>
        <p:spPr>
          <a:xfrm>
            <a:off x="2447027" y="4272952"/>
            <a:ext cx="8627" cy="799380"/>
          </a:xfrm>
          <a:prstGeom prst="straightConnector1">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B8AB2BC-9BCB-404C-AC4F-07BB71F50D4C}"/>
              </a:ext>
            </a:extLst>
          </p:cNvPr>
          <p:cNvCxnSpPr/>
          <p:nvPr/>
        </p:nvCxnSpPr>
        <p:spPr>
          <a:xfrm>
            <a:off x="5149970" y="2346385"/>
            <a:ext cx="1503871" cy="698740"/>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369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B1D6B6-D44F-4789-AC08-4FE12281F7C1}"/>
              </a:ext>
            </a:extLst>
          </p:cNvPr>
          <p:cNvSpPr txBox="1"/>
          <p:nvPr/>
        </p:nvSpPr>
        <p:spPr>
          <a:xfrm>
            <a:off x="2366514" y="2718759"/>
            <a:ext cx="7976558"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dirty="0">
                <a:latin typeface="Comic Sans MS"/>
              </a:rPr>
              <a:t>Financial Data</a:t>
            </a:r>
            <a:endParaRPr lang="en-US" sz="8000">
              <a:latin typeface="Comic Sans MS"/>
              <a:cs typeface="Calibri"/>
            </a:endParaRPr>
          </a:p>
        </p:txBody>
      </p:sp>
    </p:spTree>
    <p:extLst>
      <p:ext uri="{BB962C8B-B14F-4D97-AF65-F5344CB8AC3E}">
        <p14:creationId xmlns:p14="http://schemas.microsoft.com/office/powerpoint/2010/main" val="46311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E0CCB-9F9D-4DEB-B363-0700632C17F0}"/>
              </a:ext>
            </a:extLst>
          </p:cNvPr>
          <p:cNvSpPr txBox="1"/>
          <p:nvPr/>
        </p:nvSpPr>
        <p:spPr>
          <a:xfrm>
            <a:off x="1101306" y="1568570"/>
            <a:ext cx="9989387" cy="375487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u="sng" dirty="0">
                <a:latin typeface="Comic Sans MS"/>
              </a:rPr>
              <a:t>Partnership and investment</a:t>
            </a:r>
            <a:r>
              <a:rPr lang="en-US" sz="2800" dirty="0">
                <a:latin typeface="Comic Sans MS"/>
              </a:rPr>
              <a:t> :</a:t>
            </a:r>
            <a:endParaRPr lang="en-US" sz="2800" u="sng" dirty="0">
              <a:latin typeface="Comic Sans MS"/>
            </a:endParaRPr>
          </a:p>
          <a:p>
            <a:pPr algn="just"/>
            <a:endParaRPr lang="en-US" dirty="0">
              <a:cs typeface="Calibri"/>
            </a:endParaRPr>
          </a:p>
          <a:p>
            <a:pPr algn="just"/>
            <a:r>
              <a:rPr lang="en-US" sz="2400" dirty="0">
                <a:latin typeface="Comic Sans MS"/>
              </a:rPr>
              <a:t>We have four partners and from the beginning of our business to till now we take all the decisions together. Each of the partners invests 2 lakh taka and our total investment was 8 lakh taka. </a:t>
            </a:r>
          </a:p>
          <a:p>
            <a:pPr algn="just"/>
            <a:endParaRPr lang="en-US">
              <a:cs typeface="Calibri"/>
            </a:endParaRPr>
          </a:p>
          <a:p>
            <a:pPr algn="just"/>
            <a:r>
              <a:rPr lang="en-US" sz="2200" b="1" dirty="0">
                <a:latin typeface="Comic Sans MS"/>
              </a:rPr>
              <a:t>The basic purposes of financial projections are:</a:t>
            </a:r>
            <a:r>
              <a:rPr lang="en-US" dirty="0"/>
              <a:t> </a:t>
            </a:r>
            <a:endParaRPr lang="en-US" dirty="0">
              <a:cs typeface="Calibri"/>
            </a:endParaRPr>
          </a:p>
          <a:p>
            <a:pPr algn="just"/>
            <a:endParaRPr lang="en-US" sz="2000" dirty="0">
              <a:latin typeface="Comic Sans MS"/>
            </a:endParaRPr>
          </a:p>
          <a:p>
            <a:pPr algn="just"/>
            <a:r>
              <a:rPr lang="en-US" sz="2000" dirty="0">
                <a:latin typeface="Comic Sans MS"/>
              </a:rPr>
              <a:t>• Establish the profit potential of the business, given reasonable assumptions </a:t>
            </a:r>
          </a:p>
          <a:p>
            <a:pPr algn="just"/>
            <a:r>
              <a:rPr lang="en-US" sz="2000" dirty="0">
                <a:latin typeface="Comic Sans MS"/>
              </a:rPr>
              <a:t>• Determine how much capital the company needs and how it will be used </a:t>
            </a:r>
          </a:p>
          <a:p>
            <a:pPr algn="just"/>
            <a:r>
              <a:rPr lang="en-US" sz="2000" dirty="0">
                <a:latin typeface="Comic Sans MS"/>
              </a:rPr>
              <a:t>• Demonstrate the business can generate the cash to operate and re-pay loans </a:t>
            </a:r>
            <a:endParaRPr lang="en-US" sz="2000" dirty="0">
              <a:latin typeface="Comic Sans MS"/>
              <a:cs typeface="Calibri"/>
            </a:endParaRPr>
          </a:p>
        </p:txBody>
      </p:sp>
    </p:spTree>
    <p:extLst>
      <p:ext uri="{BB962C8B-B14F-4D97-AF65-F5344CB8AC3E}">
        <p14:creationId xmlns:p14="http://schemas.microsoft.com/office/powerpoint/2010/main" val="1395137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AFE16E-BFE2-431C-91DC-8220C302A243}"/>
              </a:ext>
            </a:extLst>
          </p:cNvPr>
          <p:cNvSpPr txBox="1"/>
          <p:nvPr/>
        </p:nvSpPr>
        <p:spPr>
          <a:xfrm>
            <a:off x="799382" y="1166004"/>
            <a:ext cx="1128334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omic Sans MS"/>
              </a:rPr>
              <a:t>Financial Statement Amount:</a:t>
            </a:r>
            <a:r>
              <a:rPr lang="en-US" dirty="0"/>
              <a:t> </a:t>
            </a:r>
            <a:r>
              <a:rPr lang="en-US" sz="2000" dirty="0">
                <a:latin typeface="Comic Sans MS"/>
              </a:rPr>
              <a:t>We started our business by investing 8 Lakh Taka. </a:t>
            </a:r>
            <a:endParaRPr lang="en-US" sz="2000" dirty="0">
              <a:latin typeface="Comic Sans MS"/>
              <a:cs typeface="Calibri"/>
            </a:endParaRPr>
          </a:p>
        </p:txBody>
      </p:sp>
      <p:sp>
        <p:nvSpPr>
          <p:cNvPr id="3" name="TextBox 2">
            <a:extLst>
              <a:ext uri="{FF2B5EF4-FFF2-40B4-BE49-F238E27FC236}">
                <a16:creationId xmlns:a16="http://schemas.microsoft.com/office/drawing/2014/main" id="{DFDEFDAE-8B9C-4FC6-B4D4-5704D5B1DFE3}"/>
              </a:ext>
            </a:extLst>
          </p:cNvPr>
          <p:cNvSpPr txBox="1"/>
          <p:nvPr/>
        </p:nvSpPr>
        <p:spPr>
          <a:xfrm>
            <a:off x="1575759" y="2186796"/>
            <a:ext cx="3850256" cy="1631216"/>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Comic Sans MS"/>
              </a:rPr>
              <a:t>1.</a:t>
            </a:r>
            <a:r>
              <a:rPr lang="en-US" sz="2000" b="1" dirty="0">
                <a:latin typeface="Comic Sans MS"/>
              </a:rPr>
              <a:t>Fixed Cost:</a:t>
            </a:r>
          </a:p>
          <a:p>
            <a:r>
              <a:rPr lang="en-US" sz="2000" b="1" dirty="0">
                <a:latin typeface="Comic Sans MS"/>
              </a:rPr>
              <a:t>Security: 300000 Tk</a:t>
            </a:r>
          </a:p>
          <a:p>
            <a:r>
              <a:rPr lang="en-US" sz="2000" b="1" dirty="0">
                <a:latin typeface="Comic Sans MS"/>
              </a:rPr>
              <a:t>Decoration: 150000 Tk</a:t>
            </a:r>
          </a:p>
          <a:p>
            <a:r>
              <a:rPr lang="en-US" sz="2000" b="1" dirty="0">
                <a:latin typeface="Comic Sans MS"/>
              </a:rPr>
              <a:t>Equipment: 150000 Tk</a:t>
            </a:r>
          </a:p>
          <a:p>
            <a:r>
              <a:rPr lang="en-US" sz="2000" b="1" dirty="0">
                <a:latin typeface="Comic Sans MS"/>
              </a:rPr>
              <a:t>Total Fixed Cost: 600000 Tk</a:t>
            </a:r>
          </a:p>
        </p:txBody>
      </p:sp>
      <p:cxnSp>
        <p:nvCxnSpPr>
          <p:cNvPr id="4" name="Straight Arrow Connector 3">
            <a:extLst>
              <a:ext uri="{FF2B5EF4-FFF2-40B4-BE49-F238E27FC236}">
                <a16:creationId xmlns:a16="http://schemas.microsoft.com/office/drawing/2014/main" id="{8736408D-A1E4-406A-827E-77AD82B5C55C}"/>
              </a:ext>
            </a:extLst>
          </p:cNvPr>
          <p:cNvCxnSpPr/>
          <p:nvPr/>
        </p:nvCxnSpPr>
        <p:spPr>
          <a:xfrm flipV="1">
            <a:off x="1640131" y="3439043"/>
            <a:ext cx="3660474" cy="2012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C970AE-C525-4F06-A9F8-0546EB5A1F2F}"/>
              </a:ext>
            </a:extLst>
          </p:cNvPr>
          <p:cNvSpPr txBox="1"/>
          <p:nvPr/>
        </p:nvSpPr>
        <p:spPr>
          <a:xfrm>
            <a:off x="6003984" y="2143664"/>
            <a:ext cx="5158595" cy="347787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omic Sans MS"/>
              </a:rPr>
              <a:t>2. Variable Cost:  </a:t>
            </a:r>
          </a:p>
          <a:p>
            <a:r>
              <a:rPr lang="en-US" sz="2000" b="1" dirty="0">
                <a:latin typeface="Comic Sans MS"/>
                <a:cs typeface="Calibri"/>
              </a:rPr>
              <a:t>House Rent:1*8000 = 8000 Tk</a:t>
            </a:r>
          </a:p>
          <a:p>
            <a:r>
              <a:rPr lang="en-US" sz="2000" b="1" dirty="0">
                <a:latin typeface="Comic Sans MS"/>
                <a:cs typeface="Calibri"/>
              </a:rPr>
              <a:t>Waiters: 8*4500 = 36000 Tk </a:t>
            </a:r>
            <a:endParaRPr lang="en-US" sz="2000" b="1" dirty="0">
              <a:latin typeface="Comic Sans MS"/>
            </a:endParaRPr>
          </a:p>
          <a:p>
            <a:r>
              <a:rPr lang="en-US" sz="2000" b="1" dirty="0">
                <a:latin typeface="Comic Sans MS"/>
                <a:cs typeface="Calibri"/>
              </a:rPr>
              <a:t>Manager:1*10000 = 10000 Tk</a:t>
            </a:r>
            <a:endParaRPr lang="en-US" sz="2000" b="1" dirty="0">
              <a:latin typeface="Comic Sans MS"/>
            </a:endParaRPr>
          </a:p>
          <a:p>
            <a:r>
              <a:rPr lang="en-US" sz="2000" b="1" dirty="0" err="1">
                <a:latin typeface="Comic Sans MS"/>
                <a:cs typeface="Calibri"/>
              </a:rPr>
              <a:t>Cre</a:t>
            </a:r>
            <a:r>
              <a:rPr lang="en-US" sz="2000" b="1" dirty="0">
                <a:latin typeface="Comic Sans MS"/>
                <a:cs typeface="Calibri"/>
              </a:rPr>
              <a:t>. Coffee Art.: 2*6000 = 12000 Tk </a:t>
            </a:r>
          </a:p>
          <a:p>
            <a:r>
              <a:rPr lang="en-US" sz="2000" b="1" dirty="0">
                <a:latin typeface="Comic Sans MS"/>
                <a:cs typeface="Calibri"/>
              </a:rPr>
              <a:t>Raw material = 30000 Tk</a:t>
            </a:r>
            <a:endParaRPr lang="en-US" sz="2000" b="1" dirty="0">
              <a:latin typeface="Comic Sans MS"/>
            </a:endParaRPr>
          </a:p>
          <a:p>
            <a:r>
              <a:rPr lang="en-US" sz="2000" b="1" dirty="0">
                <a:latin typeface="Comic Sans MS"/>
                <a:cs typeface="Calibri"/>
              </a:rPr>
              <a:t>Electricity bill: 2000*1 = 2000 Tk</a:t>
            </a:r>
            <a:endParaRPr lang="en-US" sz="2000" b="1" dirty="0">
              <a:latin typeface="Comic Sans MS"/>
            </a:endParaRPr>
          </a:p>
          <a:p>
            <a:r>
              <a:rPr lang="en-US" sz="2000" b="1" dirty="0" err="1">
                <a:latin typeface="Comic Sans MS"/>
                <a:cs typeface="Calibri"/>
              </a:rPr>
              <a:t>Wifi</a:t>
            </a:r>
            <a:r>
              <a:rPr lang="en-US" sz="2000" b="1" dirty="0">
                <a:latin typeface="Comic Sans MS"/>
                <a:cs typeface="Calibri"/>
              </a:rPr>
              <a:t> bill: 2000*1 = 2000 Tk    </a:t>
            </a:r>
          </a:p>
          <a:p>
            <a:r>
              <a:rPr lang="en-US" sz="2000" b="1" dirty="0">
                <a:latin typeface="Comic Sans MS"/>
                <a:cs typeface="Calibri"/>
              </a:rPr>
              <a:t>Total cost = 100000 Tk (per month) </a:t>
            </a:r>
          </a:p>
          <a:p>
            <a:endParaRPr lang="en-US" sz="2000" b="1" dirty="0">
              <a:latin typeface="Comic Sans MS"/>
              <a:cs typeface="Calibri"/>
            </a:endParaRPr>
          </a:p>
          <a:p>
            <a:endParaRPr lang="en-US" sz="2000" b="1" dirty="0">
              <a:latin typeface="Comic Sans MS"/>
              <a:cs typeface="Calibri"/>
            </a:endParaRPr>
          </a:p>
        </p:txBody>
      </p:sp>
      <p:cxnSp>
        <p:nvCxnSpPr>
          <p:cNvPr id="6" name="Straight Arrow Connector 5">
            <a:extLst>
              <a:ext uri="{FF2B5EF4-FFF2-40B4-BE49-F238E27FC236}">
                <a16:creationId xmlns:a16="http://schemas.microsoft.com/office/drawing/2014/main" id="{EFEAFF56-10F0-495E-B9A7-EC08B3FCDFEA}"/>
              </a:ext>
            </a:extLst>
          </p:cNvPr>
          <p:cNvCxnSpPr/>
          <p:nvPr/>
        </p:nvCxnSpPr>
        <p:spPr>
          <a:xfrm flipV="1">
            <a:off x="6061763" y="4568200"/>
            <a:ext cx="4767531" cy="20128"/>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558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46AF7B-F58F-4B62-8ED3-B98DBD85D4F8}"/>
              </a:ext>
            </a:extLst>
          </p:cNvPr>
          <p:cNvSpPr txBox="1"/>
          <p:nvPr/>
        </p:nvSpPr>
        <p:spPr>
          <a:xfrm>
            <a:off x="756249" y="643941"/>
            <a:ext cx="10708257" cy="173937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dirty="0">
                <a:latin typeface="Comic Sans MS"/>
              </a:rPr>
              <a:t>3. Financial condition of our business:</a:t>
            </a:r>
            <a:r>
              <a:rPr lang="en-US" dirty="0"/>
              <a:t> </a:t>
            </a:r>
            <a:r>
              <a:rPr lang="en-US" sz="2000" dirty="0">
                <a:latin typeface="Comic Sans MS"/>
              </a:rPr>
              <a:t>We have calculated a calculation of 6 months of our business. First two months we don’t get any profit but next month we Break-even point our cost and profit. Day by day we increased our sales and we get profit from our business. We are hopeful that the profit will be increased more and more in future. </a:t>
            </a:r>
          </a:p>
        </p:txBody>
      </p:sp>
      <p:sp>
        <p:nvSpPr>
          <p:cNvPr id="3" name="TextBox 2">
            <a:extLst>
              <a:ext uri="{FF2B5EF4-FFF2-40B4-BE49-F238E27FC236}">
                <a16:creationId xmlns:a16="http://schemas.microsoft.com/office/drawing/2014/main" id="{CF488360-864C-48B9-B26C-1040C8C4BA9F}"/>
              </a:ext>
            </a:extLst>
          </p:cNvPr>
          <p:cNvSpPr txBox="1"/>
          <p:nvPr/>
        </p:nvSpPr>
        <p:spPr>
          <a:xfrm>
            <a:off x="598099" y="2316193"/>
            <a:ext cx="10765765" cy="40011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u="sng" dirty="0">
                <a:latin typeface="Comic Sans MS"/>
              </a:rPr>
              <a:t>Financial condition of first six months </a:t>
            </a:r>
            <a:endParaRPr lang="en-US"/>
          </a:p>
        </p:txBody>
      </p:sp>
      <p:graphicFrame>
        <p:nvGraphicFramePr>
          <p:cNvPr id="4" name="Table 4">
            <a:extLst>
              <a:ext uri="{FF2B5EF4-FFF2-40B4-BE49-F238E27FC236}">
                <a16:creationId xmlns:a16="http://schemas.microsoft.com/office/drawing/2014/main" id="{D0134B61-85DC-4F52-B1D6-D858A67FCB1D}"/>
              </a:ext>
            </a:extLst>
          </p:cNvPr>
          <p:cNvGraphicFramePr>
            <a:graphicFrameLocks noGrp="1"/>
          </p:cNvGraphicFramePr>
          <p:nvPr>
            <p:extLst>
              <p:ext uri="{D42A27DB-BD31-4B8C-83A1-F6EECF244321}">
                <p14:modId xmlns:p14="http://schemas.microsoft.com/office/powerpoint/2010/main" val="2553529300"/>
              </p:ext>
            </p:extLst>
          </p:nvPr>
        </p:nvGraphicFramePr>
        <p:xfrm>
          <a:off x="1781642" y="2720830"/>
          <a:ext cx="8168639" cy="2595880"/>
        </p:xfrm>
        <a:graphic>
          <a:graphicData uri="http://schemas.openxmlformats.org/drawingml/2006/table">
            <a:tbl>
              <a:tblPr firstRow="1" bandRow="1">
                <a:tableStyleId>{5C22544A-7EE6-4342-B048-85BDC9FD1C3A}</a:tableStyleId>
              </a:tblPr>
              <a:tblGrid>
                <a:gridCol w="1850571">
                  <a:extLst>
                    <a:ext uri="{9D8B030D-6E8A-4147-A177-3AD203B41FA5}">
                      <a16:colId xmlns:a16="http://schemas.microsoft.com/office/drawing/2014/main" val="4229075174"/>
                    </a:ext>
                  </a:extLst>
                </a:gridCol>
                <a:gridCol w="2233748">
                  <a:extLst>
                    <a:ext uri="{9D8B030D-6E8A-4147-A177-3AD203B41FA5}">
                      <a16:colId xmlns:a16="http://schemas.microsoft.com/office/drawing/2014/main" val="1227878943"/>
                    </a:ext>
                  </a:extLst>
                </a:gridCol>
                <a:gridCol w="2042160">
                  <a:extLst>
                    <a:ext uri="{9D8B030D-6E8A-4147-A177-3AD203B41FA5}">
                      <a16:colId xmlns:a16="http://schemas.microsoft.com/office/drawing/2014/main" val="7727429"/>
                    </a:ext>
                  </a:extLst>
                </a:gridCol>
                <a:gridCol w="2042160">
                  <a:extLst>
                    <a:ext uri="{9D8B030D-6E8A-4147-A177-3AD203B41FA5}">
                      <a16:colId xmlns:a16="http://schemas.microsoft.com/office/drawing/2014/main" val="3262178912"/>
                    </a:ext>
                  </a:extLst>
                </a:gridCol>
              </a:tblGrid>
              <a:tr h="370840">
                <a:tc>
                  <a:txBody>
                    <a:bodyPr/>
                    <a:lstStyle/>
                    <a:p>
                      <a:pPr algn="ctr"/>
                      <a:r>
                        <a:rPr lang="en-US" dirty="0"/>
                        <a:t>Months </a:t>
                      </a:r>
                    </a:p>
                  </a:txBody>
                  <a:tcPr/>
                </a:tc>
                <a:tc>
                  <a:txBody>
                    <a:bodyPr/>
                    <a:lstStyle/>
                    <a:p>
                      <a:pPr algn="ctr"/>
                      <a:r>
                        <a:rPr lang="en-US" dirty="0"/>
                        <a:t>Sales</a:t>
                      </a:r>
                    </a:p>
                  </a:txBody>
                  <a:tcPr/>
                </a:tc>
                <a:tc>
                  <a:txBody>
                    <a:bodyPr/>
                    <a:lstStyle/>
                    <a:p>
                      <a:pPr algn="ctr"/>
                      <a:r>
                        <a:rPr lang="en-US" dirty="0"/>
                        <a:t>Total Cost</a:t>
                      </a:r>
                    </a:p>
                  </a:txBody>
                  <a:tcPr/>
                </a:tc>
                <a:tc>
                  <a:txBody>
                    <a:bodyPr/>
                    <a:lstStyle/>
                    <a:p>
                      <a:pPr algn="ctr"/>
                      <a:r>
                        <a:rPr lang="en-US" dirty="0"/>
                        <a:t>Profit</a:t>
                      </a:r>
                    </a:p>
                  </a:txBody>
                  <a:tcPr/>
                </a:tc>
                <a:extLst>
                  <a:ext uri="{0D108BD9-81ED-4DB2-BD59-A6C34878D82A}">
                    <a16:rowId xmlns:a16="http://schemas.microsoft.com/office/drawing/2014/main" val="1206793006"/>
                  </a:ext>
                </a:extLst>
              </a:tr>
              <a:tr h="370840">
                <a:tc>
                  <a:txBody>
                    <a:bodyPr/>
                    <a:lstStyle/>
                    <a:p>
                      <a:pPr algn="ctr"/>
                      <a:r>
                        <a:rPr lang="en-US" dirty="0"/>
                        <a:t>1st </a:t>
                      </a:r>
                    </a:p>
                  </a:txBody>
                  <a:tcPr/>
                </a:tc>
                <a:tc>
                  <a:txBody>
                    <a:bodyPr/>
                    <a:lstStyle/>
                    <a:p>
                      <a:pPr algn="ctr"/>
                      <a:r>
                        <a:rPr lang="en-US" dirty="0"/>
                        <a:t>100*30*30=90000</a:t>
                      </a:r>
                    </a:p>
                  </a:txBody>
                  <a:tcPr/>
                </a:tc>
                <a:tc>
                  <a:txBody>
                    <a:bodyPr/>
                    <a:lstStyle/>
                    <a:p>
                      <a:pPr algn="ctr"/>
                      <a:r>
                        <a:rPr lang="en-US" dirty="0"/>
                        <a:t>100000</a:t>
                      </a:r>
                    </a:p>
                  </a:txBody>
                  <a:tcPr/>
                </a:tc>
                <a:tc>
                  <a:txBody>
                    <a:bodyPr/>
                    <a:lstStyle/>
                    <a:p>
                      <a:pPr algn="ctr"/>
                      <a:r>
                        <a:rPr lang="en-US" dirty="0"/>
                        <a:t>(10000)</a:t>
                      </a:r>
                    </a:p>
                  </a:txBody>
                  <a:tcPr/>
                </a:tc>
                <a:extLst>
                  <a:ext uri="{0D108BD9-81ED-4DB2-BD59-A6C34878D82A}">
                    <a16:rowId xmlns:a16="http://schemas.microsoft.com/office/drawing/2014/main" val="4019166998"/>
                  </a:ext>
                </a:extLst>
              </a:tr>
              <a:tr h="370840">
                <a:tc>
                  <a:txBody>
                    <a:bodyPr/>
                    <a:lstStyle/>
                    <a:p>
                      <a:pPr algn="ctr"/>
                      <a:r>
                        <a:rPr lang="en-US" dirty="0"/>
                        <a:t>2nd</a:t>
                      </a:r>
                    </a:p>
                  </a:txBody>
                  <a:tcPr/>
                </a:tc>
                <a:tc>
                  <a:txBody>
                    <a:bodyPr/>
                    <a:lstStyle/>
                    <a:p>
                      <a:pPr algn="ctr"/>
                      <a:r>
                        <a:rPr lang="en-US" dirty="0"/>
                        <a:t>120*30*30=108000</a:t>
                      </a:r>
                    </a:p>
                  </a:txBody>
                  <a:tcPr/>
                </a:tc>
                <a:tc>
                  <a:txBody>
                    <a:bodyPr/>
                    <a:lstStyle/>
                    <a:p>
                      <a:pPr algn="ctr"/>
                      <a:r>
                        <a:rPr lang="en-US" dirty="0"/>
                        <a:t>105000</a:t>
                      </a:r>
                    </a:p>
                  </a:txBody>
                  <a:tcPr/>
                </a:tc>
                <a:tc>
                  <a:txBody>
                    <a:bodyPr/>
                    <a:lstStyle/>
                    <a:p>
                      <a:pPr algn="ctr"/>
                      <a:r>
                        <a:rPr lang="en-US" dirty="0"/>
                        <a:t>(7000)</a:t>
                      </a:r>
                    </a:p>
                  </a:txBody>
                  <a:tcPr/>
                </a:tc>
                <a:extLst>
                  <a:ext uri="{0D108BD9-81ED-4DB2-BD59-A6C34878D82A}">
                    <a16:rowId xmlns:a16="http://schemas.microsoft.com/office/drawing/2014/main" val="227086932"/>
                  </a:ext>
                </a:extLst>
              </a:tr>
              <a:tr h="370840">
                <a:tc>
                  <a:txBody>
                    <a:bodyPr/>
                    <a:lstStyle/>
                    <a:p>
                      <a:pPr algn="ctr"/>
                      <a:r>
                        <a:rPr lang="en-US" dirty="0"/>
                        <a:t>3rd</a:t>
                      </a:r>
                    </a:p>
                  </a:txBody>
                  <a:tcPr/>
                </a:tc>
                <a:tc>
                  <a:txBody>
                    <a:bodyPr/>
                    <a:lstStyle/>
                    <a:p>
                      <a:pPr algn="ctr"/>
                      <a:r>
                        <a:rPr lang="en-US" dirty="0"/>
                        <a:t>130*30*30=117000</a:t>
                      </a:r>
                    </a:p>
                  </a:txBody>
                  <a:tcPr/>
                </a:tc>
                <a:tc>
                  <a:txBody>
                    <a:bodyPr/>
                    <a:lstStyle/>
                    <a:p>
                      <a:pPr algn="ctr"/>
                      <a:r>
                        <a:rPr lang="en-US" dirty="0"/>
                        <a:t>110000</a:t>
                      </a:r>
                    </a:p>
                  </a:txBody>
                  <a:tcPr/>
                </a:tc>
                <a:tc>
                  <a:txBody>
                    <a:bodyPr/>
                    <a:lstStyle/>
                    <a:p>
                      <a:pPr algn="ctr"/>
                      <a:r>
                        <a:rPr lang="en-US" dirty="0"/>
                        <a:t>0</a:t>
                      </a:r>
                    </a:p>
                  </a:txBody>
                  <a:tcPr/>
                </a:tc>
                <a:extLst>
                  <a:ext uri="{0D108BD9-81ED-4DB2-BD59-A6C34878D82A}">
                    <a16:rowId xmlns:a16="http://schemas.microsoft.com/office/drawing/2014/main" val="3319795713"/>
                  </a:ext>
                </a:extLst>
              </a:tr>
              <a:tr h="370840">
                <a:tc>
                  <a:txBody>
                    <a:bodyPr/>
                    <a:lstStyle/>
                    <a:p>
                      <a:pPr algn="ctr"/>
                      <a:r>
                        <a:rPr lang="en-US" dirty="0"/>
                        <a:t>4th</a:t>
                      </a:r>
                    </a:p>
                  </a:txBody>
                  <a:tcPr/>
                </a:tc>
                <a:tc>
                  <a:txBody>
                    <a:bodyPr/>
                    <a:lstStyle/>
                    <a:p>
                      <a:pPr algn="ctr"/>
                      <a:r>
                        <a:rPr lang="en-US" dirty="0"/>
                        <a:t>150*30*30=135000</a:t>
                      </a:r>
                    </a:p>
                  </a:txBody>
                  <a:tcPr/>
                </a:tc>
                <a:tc>
                  <a:txBody>
                    <a:bodyPr/>
                    <a:lstStyle/>
                    <a:p>
                      <a:pPr algn="ctr"/>
                      <a:r>
                        <a:rPr lang="en-US" dirty="0"/>
                        <a:t>120000</a:t>
                      </a:r>
                    </a:p>
                  </a:txBody>
                  <a:tcPr/>
                </a:tc>
                <a:tc>
                  <a:txBody>
                    <a:bodyPr/>
                    <a:lstStyle/>
                    <a:p>
                      <a:pPr algn="ctr"/>
                      <a:r>
                        <a:rPr lang="en-US" dirty="0"/>
                        <a:t>15000</a:t>
                      </a:r>
                    </a:p>
                  </a:txBody>
                  <a:tcPr/>
                </a:tc>
                <a:extLst>
                  <a:ext uri="{0D108BD9-81ED-4DB2-BD59-A6C34878D82A}">
                    <a16:rowId xmlns:a16="http://schemas.microsoft.com/office/drawing/2014/main" val="1458957897"/>
                  </a:ext>
                </a:extLst>
              </a:tr>
              <a:tr h="370840">
                <a:tc>
                  <a:txBody>
                    <a:bodyPr/>
                    <a:lstStyle/>
                    <a:p>
                      <a:pPr algn="ctr"/>
                      <a:r>
                        <a:rPr lang="en-US" dirty="0"/>
                        <a:t>5th</a:t>
                      </a:r>
                    </a:p>
                  </a:txBody>
                  <a:tcPr/>
                </a:tc>
                <a:tc>
                  <a:txBody>
                    <a:bodyPr/>
                    <a:lstStyle/>
                    <a:p>
                      <a:pPr algn="ctr"/>
                      <a:r>
                        <a:rPr lang="en-US" dirty="0"/>
                        <a:t>200*30*30=180000</a:t>
                      </a:r>
                    </a:p>
                  </a:txBody>
                  <a:tcPr/>
                </a:tc>
                <a:tc>
                  <a:txBody>
                    <a:bodyPr/>
                    <a:lstStyle/>
                    <a:p>
                      <a:pPr algn="ctr"/>
                      <a:r>
                        <a:rPr lang="en-US" dirty="0"/>
                        <a:t>150000</a:t>
                      </a:r>
                    </a:p>
                  </a:txBody>
                  <a:tcPr/>
                </a:tc>
                <a:tc>
                  <a:txBody>
                    <a:bodyPr/>
                    <a:lstStyle/>
                    <a:p>
                      <a:pPr algn="ctr"/>
                      <a:r>
                        <a:rPr lang="en-US" dirty="0"/>
                        <a:t>30000</a:t>
                      </a:r>
                    </a:p>
                  </a:txBody>
                  <a:tcPr/>
                </a:tc>
                <a:extLst>
                  <a:ext uri="{0D108BD9-81ED-4DB2-BD59-A6C34878D82A}">
                    <a16:rowId xmlns:a16="http://schemas.microsoft.com/office/drawing/2014/main" val="661782965"/>
                  </a:ext>
                </a:extLst>
              </a:tr>
              <a:tr h="370840">
                <a:tc>
                  <a:txBody>
                    <a:bodyPr/>
                    <a:lstStyle/>
                    <a:p>
                      <a:pPr algn="ctr"/>
                      <a:r>
                        <a:rPr lang="en-US" dirty="0"/>
                        <a:t>6th</a:t>
                      </a:r>
                    </a:p>
                  </a:txBody>
                  <a:tcPr/>
                </a:tc>
                <a:tc>
                  <a:txBody>
                    <a:bodyPr/>
                    <a:lstStyle/>
                    <a:p>
                      <a:pPr algn="ctr"/>
                      <a:r>
                        <a:rPr lang="en-US" dirty="0"/>
                        <a:t>200*30*30=180000</a:t>
                      </a:r>
                    </a:p>
                  </a:txBody>
                  <a:tcPr/>
                </a:tc>
                <a:tc>
                  <a:txBody>
                    <a:bodyPr/>
                    <a:lstStyle/>
                    <a:p>
                      <a:pPr algn="ctr"/>
                      <a:r>
                        <a:rPr lang="en-US" dirty="0"/>
                        <a:t>150000</a:t>
                      </a:r>
                    </a:p>
                  </a:txBody>
                  <a:tcPr/>
                </a:tc>
                <a:tc>
                  <a:txBody>
                    <a:bodyPr/>
                    <a:lstStyle/>
                    <a:p>
                      <a:pPr algn="ctr"/>
                      <a:r>
                        <a:rPr lang="en-US" dirty="0"/>
                        <a:t>30000</a:t>
                      </a:r>
                    </a:p>
                  </a:txBody>
                  <a:tcPr/>
                </a:tc>
                <a:extLst>
                  <a:ext uri="{0D108BD9-81ED-4DB2-BD59-A6C34878D82A}">
                    <a16:rowId xmlns:a16="http://schemas.microsoft.com/office/drawing/2014/main" val="1714761293"/>
                  </a:ext>
                </a:extLst>
              </a:tr>
            </a:tbl>
          </a:graphicData>
        </a:graphic>
      </p:graphicFrame>
      <p:sp>
        <p:nvSpPr>
          <p:cNvPr id="6" name="TextBox 5">
            <a:extLst>
              <a:ext uri="{FF2B5EF4-FFF2-40B4-BE49-F238E27FC236}">
                <a16:creationId xmlns:a16="http://schemas.microsoft.com/office/drawing/2014/main" id="{4DDBBE07-B157-4051-BA03-4D675EF0E716}"/>
              </a:ext>
            </a:extLst>
          </p:cNvPr>
          <p:cNvSpPr txBox="1"/>
          <p:nvPr/>
        </p:nvSpPr>
        <p:spPr>
          <a:xfrm>
            <a:off x="1848928" y="5392946"/>
            <a:ext cx="9011727" cy="92333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Notes: </a:t>
            </a:r>
            <a:r>
              <a:rPr lang="en-US" dirty="0"/>
              <a:t>We assumed we have 100 cup of coffee on an average on daily basis for first month and it will increase next every month. We set our profit 30 taka on every cup of coffee and it will increase every year. </a:t>
            </a:r>
            <a:endParaRPr lang="en-US"/>
          </a:p>
        </p:txBody>
      </p:sp>
    </p:spTree>
    <p:extLst>
      <p:ext uri="{BB962C8B-B14F-4D97-AF65-F5344CB8AC3E}">
        <p14:creationId xmlns:p14="http://schemas.microsoft.com/office/powerpoint/2010/main" val="4288351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6BF5AC-8DCC-4AB3-8F65-A327203A7A57}"/>
              </a:ext>
            </a:extLst>
          </p:cNvPr>
          <p:cNvSpPr txBox="1"/>
          <p:nvPr/>
        </p:nvSpPr>
        <p:spPr>
          <a:xfrm>
            <a:off x="986287" y="2301815"/>
            <a:ext cx="10161917" cy="206210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omic Sans MS"/>
              </a:rPr>
              <a:t>Conclusion:</a:t>
            </a:r>
            <a:r>
              <a:rPr lang="en-US" dirty="0"/>
              <a:t> </a:t>
            </a:r>
            <a:endParaRPr lang="en-US"/>
          </a:p>
          <a:p>
            <a:pPr algn="just"/>
            <a:r>
              <a:rPr lang="en-US" sz="2000" dirty="0">
                <a:latin typeface="Comic Sans MS"/>
              </a:rPr>
              <a:t>          We planned and started our business with a lot of expectation. Our business is running now. For a successful planning, we are getting profit from our business. Though it is small but we are hopeful that our sell and profit will be increased more in future. From the experience of our business we can say, for a successful business, planning is very important.</a:t>
            </a:r>
            <a:r>
              <a:rPr lang="en-US" dirty="0"/>
              <a:t> </a:t>
            </a:r>
            <a:endParaRPr lang="en-US" dirty="0">
              <a:cs typeface="Calibri"/>
            </a:endParaRPr>
          </a:p>
        </p:txBody>
      </p:sp>
    </p:spTree>
    <p:extLst>
      <p:ext uri="{BB962C8B-B14F-4D97-AF65-F5344CB8AC3E}">
        <p14:creationId xmlns:p14="http://schemas.microsoft.com/office/powerpoint/2010/main" val="1923161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6707DC-1CE2-4C22-953F-A7D5A6B2AA13}"/>
              </a:ext>
            </a:extLst>
          </p:cNvPr>
          <p:cNvSpPr txBox="1"/>
          <p:nvPr/>
        </p:nvSpPr>
        <p:spPr>
          <a:xfrm>
            <a:off x="2107721" y="2603740"/>
            <a:ext cx="8177841" cy="1323439"/>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b="1" dirty="0">
                <a:latin typeface="Comic Sans MS"/>
              </a:rPr>
              <a:t>Thank </a:t>
            </a:r>
            <a:r>
              <a:rPr lang="en-US" sz="8000" b="1" dirty="0">
                <a:latin typeface="Comic Sans MS"/>
                <a:cs typeface="Calibri"/>
              </a:rPr>
              <a:t>You</a:t>
            </a:r>
            <a:endParaRPr lang="en-US" b="1">
              <a:latin typeface="Comic Sans MS"/>
            </a:endParaRPr>
          </a:p>
        </p:txBody>
      </p:sp>
    </p:spTree>
    <p:extLst>
      <p:ext uri="{BB962C8B-B14F-4D97-AF65-F5344CB8AC3E}">
        <p14:creationId xmlns:p14="http://schemas.microsoft.com/office/powerpoint/2010/main" val="231728316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Organic</vt:lpstr>
      <vt:lpstr>PowerPoint Presentation</vt:lpstr>
      <vt:lpstr>Business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1225</cp:revision>
  <dcterms:created xsi:type="dcterms:W3CDTF">2013-07-15T20:26:40Z</dcterms:created>
  <dcterms:modified xsi:type="dcterms:W3CDTF">2018-11-09T18:16:31Z</dcterms:modified>
</cp:coreProperties>
</file>